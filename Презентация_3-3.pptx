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59" r:id="rId4"/>
    <p:sldId id="261" r:id="rId5"/>
    <p:sldId id="262" r:id="rId6"/>
    <p:sldId id="300" r:id="rId7"/>
    <p:sldId id="301" r:id="rId8"/>
    <p:sldId id="264" r:id="rId9"/>
    <p:sldId id="293" r:id="rId10"/>
    <p:sldId id="265" r:id="rId11"/>
    <p:sldId id="270" r:id="rId12"/>
    <p:sldId id="294" r:id="rId13"/>
    <p:sldId id="271" r:id="rId14"/>
    <p:sldId id="272" r:id="rId15"/>
    <p:sldId id="266" r:id="rId16"/>
    <p:sldId id="267" r:id="rId17"/>
    <p:sldId id="268" r:id="rId18"/>
    <p:sldId id="269" r:id="rId19"/>
    <p:sldId id="302" r:id="rId20"/>
    <p:sldId id="303" r:id="rId21"/>
    <p:sldId id="305" r:id="rId22"/>
    <p:sldId id="282" r:id="rId23"/>
    <p:sldId id="283" r:id="rId24"/>
    <p:sldId id="285" r:id="rId25"/>
    <p:sldId id="286" r:id="rId26"/>
    <p:sldId id="288" r:id="rId27"/>
    <p:sldId id="295" r:id="rId28"/>
    <p:sldId id="297" r:id="rId29"/>
    <p:sldId id="298" r:id="rId30"/>
    <p:sldId id="296" r:id="rId31"/>
    <p:sldId id="304" r:id="rId32"/>
    <p:sldId id="289" r:id="rId33"/>
    <p:sldId id="299" r:id="rId34"/>
    <p:sldId id="273" r:id="rId35"/>
    <p:sldId id="274" r:id="rId36"/>
    <p:sldId id="275" r:id="rId37"/>
    <p:sldId id="276" r:id="rId38"/>
    <p:sldId id="277" r:id="rId39"/>
    <p:sldId id="278" r:id="rId40"/>
    <p:sldId id="279" r:id="rId41"/>
    <p:sldId id="280" r:id="rId42"/>
    <p:sldId id="291" r:id="rId43"/>
    <p:sldId id="292" r:id="rId4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9" d="100"/>
          <a:sy n="109" d="100"/>
        </p:scale>
        <p:origin x="5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128912-F063-4056-8C44-BD9985B3F1BD}" type="datetimeFigureOut">
              <a:rPr lang="ru-RU" smtClean="0"/>
              <a:t>10.01.2026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BF84C-39A4-4375-B9A8-3BF5AEBBA349}" type="slidenum">
              <a:rPr lang="ru-RU" smtClean="0"/>
              <a:t>‹#›</a:t>
            </a:fld>
            <a:endParaRPr lang="ru-RU"/>
          </a:p>
        </p:txBody>
      </p:sp>
    </p:spTree>
    <p:extLst>
      <p:ext uri="{BB962C8B-B14F-4D97-AF65-F5344CB8AC3E}">
        <p14:creationId xmlns:p14="http://schemas.microsoft.com/office/powerpoint/2010/main" val="633376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4730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8358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3893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333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427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370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1476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3694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8918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0519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3763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161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2562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3BF768FE-0E79-4689-A88B-2A592D278A02}" type="datetimeFigureOut">
              <a:rPr lang="ru-RU" smtClean="0"/>
              <a:t>10.01.2026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329C1B5-7D53-4B7E-959D-D0A12C8945F1}" type="slidenum">
              <a:rPr lang="ru-RU" smtClean="0"/>
              <a:t>‹#›</a:t>
            </a:fld>
            <a:endParaRPr lang="ru-RU"/>
          </a:p>
        </p:txBody>
      </p:sp>
    </p:spTree>
    <p:extLst>
      <p:ext uri="{BB962C8B-B14F-4D97-AF65-F5344CB8AC3E}">
        <p14:creationId xmlns:p14="http://schemas.microsoft.com/office/powerpoint/2010/main" val="1808083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BF768FE-0E79-4689-A88B-2A592D278A02}" type="datetimeFigureOut">
              <a:rPr lang="ru-RU" smtClean="0"/>
              <a:t>10.01.2026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329C1B5-7D53-4B7E-959D-D0A12C8945F1}" type="slidenum">
              <a:rPr lang="ru-RU" smtClean="0"/>
              <a:t>‹#›</a:t>
            </a:fld>
            <a:endParaRPr lang="ru-RU"/>
          </a:p>
        </p:txBody>
      </p:sp>
    </p:spTree>
    <p:extLst>
      <p:ext uri="{BB962C8B-B14F-4D97-AF65-F5344CB8AC3E}">
        <p14:creationId xmlns:p14="http://schemas.microsoft.com/office/powerpoint/2010/main" val="393787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3BF768FE-0E79-4689-A88B-2A592D278A02}" type="datetimeFigureOut">
              <a:rPr lang="ru-RU" smtClean="0"/>
              <a:t>10.01.2026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329C1B5-7D53-4B7E-959D-D0A12C8945F1}" type="slidenum">
              <a:rPr lang="ru-RU" smtClean="0"/>
              <a:t>‹#›</a:t>
            </a:fld>
            <a:endParaRPr lang="ru-RU"/>
          </a:p>
        </p:txBody>
      </p:sp>
    </p:spTree>
    <p:extLst>
      <p:ext uri="{BB962C8B-B14F-4D97-AF65-F5344CB8AC3E}">
        <p14:creationId xmlns:p14="http://schemas.microsoft.com/office/powerpoint/2010/main" val="3367024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3BF768FE-0E79-4689-A88B-2A592D278A02}" type="datetimeFigureOut">
              <a:rPr lang="ru-RU" smtClean="0"/>
              <a:t>10.01.2026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329C1B5-7D53-4B7E-959D-D0A12C8945F1}" type="slidenum">
              <a:rPr lang="ru-RU" smtClean="0"/>
              <a:t>‹#›</a:t>
            </a:fld>
            <a:endParaRPr lang="ru-RU"/>
          </a:p>
        </p:txBody>
      </p:sp>
    </p:spTree>
    <p:extLst>
      <p:ext uri="{BB962C8B-B14F-4D97-AF65-F5344CB8AC3E}">
        <p14:creationId xmlns:p14="http://schemas.microsoft.com/office/powerpoint/2010/main" val="3110446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3BF768FE-0E79-4689-A88B-2A592D278A02}" type="datetimeFigureOut">
              <a:rPr lang="ru-RU" smtClean="0"/>
              <a:t>10.01.2026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9329C1B5-7D53-4B7E-959D-D0A12C8945F1}" type="slidenum">
              <a:rPr lang="ru-RU" smtClean="0"/>
              <a:t>‹#›</a:t>
            </a:fld>
            <a:endParaRPr lang="ru-RU"/>
          </a:p>
        </p:txBody>
      </p:sp>
    </p:spTree>
    <p:extLst>
      <p:ext uri="{BB962C8B-B14F-4D97-AF65-F5344CB8AC3E}">
        <p14:creationId xmlns:p14="http://schemas.microsoft.com/office/powerpoint/2010/main" val="1373261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3BF768FE-0E79-4689-A88B-2A592D278A02}" type="datetimeFigureOut">
              <a:rPr lang="ru-RU" smtClean="0"/>
              <a:t>10.01.2026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9329C1B5-7D53-4B7E-959D-D0A12C8945F1}" type="slidenum">
              <a:rPr lang="ru-RU" smtClean="0"/>
              <a:t>‹#›</a:t>
            </a:fld>
            <a:endParaRPr lang="ru-RU"/>
          </a:p>
        </p:txBody>
      </p:sp>
    </p:spTree>
    <p:extLst>
      <p:ext uri="{BB962C8B-B14F-4D97-AF65-F5344CB8AC3E}">
        <p14:creationId xmlns:p14="http://schemas.microsoft.com/office/powerpoint/2010/main" val="2102760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3BF768FE-0E79-4689-A88B-2A592D278A02}" type="datetimeFigureOut">
              <a:rPr lang="ru-RU" smtClean="0"/>
              <a:t>10.01.2026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9329C1B5-7D53-4B7E-959D-D0A12C8945F1}" type="slidenum">
              <a:rPr lang="ru-RU" smtClean="0"/>
              <a:t>‹#›</a:t>
            </a:fld>
            <a:endParaRPr lang="ru-RU"/>
          </a:p>
        </p:txBody>
      </p:sp>
    </p:spTree>
    <p:extLst>
      <p:ext uri="{BB962C8B-B14F-4D97-AF65-F5344CB8AC3E}">
        <p14:creationId xmlns:p14="http://schemas.microsoft.com/office/powerpoint/2010/main" val="1254039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3BF768FE-0E79-4689-A88B-2A592D278A02}" type="datetimeFigureOut">
              <a:rPr lang="ru-RU" smtClean="0"/>
              <a:t>10.01.2026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329C1B5-7D53-4B7E-959D-D0A12C8945F1}" type="slidenum">
              <a:rPr lang="ru-RU" smtClean="0"/>
              <a:t>‹#›</a:t>
            </a:fld>
            <a:endParaRPr lang="ru-RU"/>
          </a:p>
        </p:txBody>
      </p:sp>
    </p:spTree>
    <p:extLst>
      <p:ext uri="{BB962C8B-B14F-4D97-AF65-F5344CB8AC3E}">
        <p14:creationId xmlns:p14="http://schemas.microsoft.com/office/powerpoint/2010/main" val="1138832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3BF768FE-0E79-4689-A88B-2A592D278A02}" type="datetimeFigureOut">
              <a:rPr lang="ru-RU" smtClean="0"/>
              <a:t>10.01.2026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329C1B5-7D53-4B7E-959D-D0A12C8945F1}" type="slidenum">
              <a:rPr lang="ru-RU" smtClean="0"/>
              <a:t>‹#›</a:t>
            </a:fld>
            <a:endParaRPr lang="ru-RU"/>
          </a:p>
        </p:txBody>
      </p:sp>
    </p:spTree>
    <p:extLst>
      <p:ext uri="{BB962C8B-B14F-4D97-AF65-F5344CB8AC3E}">
        <p14:creationId xmlns:p14="http://schemas.microsoft.com/office/powerpoint/2010/main" val="153118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BF768FE-0E79-4689-A88B-2A592D278A02}" type="datetimeFigureOut">
              <a:rPr lang="ru-RU" smtClean="0"/>
              <a:t>10.01.2026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329C1B5-7D53-4B7E-959D-D0A12C8945F1}" type="slidenum">
              <a:rPr lang="ru-RU" smtClean="0"/>
              <a:t>‹#›</a:t>
            </a:fld>
            <a:endParaRPr lang="ru-RU"/>
          </a:p>
        </p:txBody>
      </p:sp>
    </p:spTree>
    <p:extLst>
      <p:ext uri="{BB962C8B-B14F-4D97-AF65-F5344CB8AC3E}">
        <p14:creationId xmlns:p14="http://schemas.microsoft.com/office/powerpoint/2010/main" val="2738773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BF768FE-0E79-4689-A88B-2A592D278A02}" type="datetimeFigureOut">
              <a:rPr lang="ru-RU" smtClean="0"/>
              <a:t>10.01.2026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329C1B5-7D53-4B7E-959D-D0A12C8945F1}" type="slidenum">
              <a:rPr lang="ru-RU" smtClean="0"/>
              <a:t>‹#›</a:t>
            </a:fld>
            <a:endParaRPr lang="ru-RU"/>
          </a:p>
        </p:txBody>
      </p:sp>
    </p:spTree>
    <p:extLst>
      <p:ext uri="{BB962C8B-B14F-4D97-AF65-F5344CB8AC3E}">
        <p14:creationId xmlns:p14="http://schemas.microsoft.com/office/powerpoint/2010/main" val="3090174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F768FE-0E79-4689-A88B-2A592D278A02}" type="datetimeFigureOut">
              <a:rPr lang="ru-RU" smtClean="0"/>
              <a:t>10.01.2026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29C1B5-7D53-4B7E-959D-D0A12C8945F1}" type="slidenum">
              <a:rPr lang="ru-RU" smtClean="0"/>
              <a:t>‹#›</a:t>
            </a:fld>
            <a:endParaRPr lang="ru-RU"/>
          </a:p>
        </p:txBody>
      </p:sp>
    </p:spTree>
    <p:extLst>
      <p:ext uri="{BB962C8B-B14F-4D97-AF65-F5344CB8AC3E}">
        <p14:creationId xmlns:p14="http://schemas.microsoft.com/office/powerpoint/2010/main" val="4528314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en-US" b="1" dirty="0">
                <a:effectLst>
                  <a:outerShdw blurRad="38100" dist="38100" dir="2700000" algn="tl">
                    <a:srgbClr val="000000">
                      <a:alpha val="43137"/>
                    </a:srgbClr>
                  </a:outerShdw>
                </a:effectLst>
              </a:rPr>
              <a:t>Data Science: </a:t>
            </a:r>
            <a:r>
              <a:rPr lang="ru-RU" b="1" dirty="0">
                <a:effectLst>
                  <a:outerShdw blurRad="38100" dist="38100" dir="2700000" algn="tl">
                    <a:srgbClr val="000000">
                      <a:alpha val="43137"/>
                    </a:srgbClr>
                  </a:outerShdw>
                </a:effectLst>
              </a:rPr>
              <a:t>машинное обучение и нейронные сети</a:t>
            </a:r>
            <a:endParaRPr lang="ru-RU" dirty="0"/>
          </a:p>
        </p:txBody>
      </p:sp>
      <p:sp>
        <p:nvSpPr>
          <p:cNvPr id="3" name="Подзаголовок 2"/>
          <p:cNvSpPr>
            <a:spLocks noGrp="1"/>
          </p:cNvSpPr>
          <p:nvPr>
            <p:ph type="subTitle" idx="1"/>
          </p:nvPr>
        </p:nvSpPr>
        <p:spPr/>
        <p:txBody>
          <a:bodyPr/>
          <a:lstStyle/>
          <a:p>
            <a:r>
              <a:rPr lang="ru-RU" dirty="0"/>
              <a:t>Занятие </a:t>
            </a:r>
            <a:r>
              <a:rPr lang="en-US"/>
              <a:t>3</a:t>
            </a:r>
            <a:r>
              <a:rPr lang="ru-RU"/>
              <a:t> </a:t>
            </a:r>
            <a:r>
              <a:rPr lang="ru-RU" dirty="0"/>
              <a:t>- </a:t>
            </a:r>
            <a:r>
              <a:rPr lang="ru-RU" b="1" dirty="0"/>
              <a:t>Основы машинного обучения</a:t>
            </a:r>
            <a:r>
              <a:rPr lang="ru-RU" dirty="0"/>
              <a:t> </a:t>
            </a:r>
          </a:p>
        </p:txBody>
      </p:sp>
    </p:spTree>
    <p:extLst>
      <p:ext uri="{BB962C8B-B14F-4D97-AF65-F5344CB8AC3E}">
        <p14:creationId xmlns:p14="http://schemas.microsoft.com/office/powerpoint/2010/main" val="1800815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r>
              <a:rPr lang="ru-RU" b="1" dirty="0">
                <a:effectLst>
                  <a:outerShdw blurRad="38100" dist="38100" dir="2700000" algn="tl">
                    <a:srgbClr val="000000">
                      <a:alpha val="43137"/>
                    </a:srgbClr>
                  </a:outerShdw>
                </a:effectLst>
              </a:rPr>
              <a:t>План занятия</a:t>
            </a:r>
          </a:p>
        </p:txBody>
      </p:sp>
      <p:sp>
        <p:nvSpPr>
          <p:cNvPr id="3" name="Объект 2"/>
          <p:cNvSpPr>
            <a:spLocks noGrp="1"/>
          </p:cNvSpPr>
          <p:nvPr>
            <p:ph idx="1"/>
          </p:nvPr>
        </p:nvSpPr>
        <p:spPr>
          <a:xfrm>
            <a:off x="838200" y="1825625"/>
            <a:ext cx="10769600" cy="4351338"/>
          </a:xfrm>
        </p:spPr>
        <p:txBody>
          <a:bodyPr/>
          <a:lstStyle/>
          <a:p>
            <a:pPr marL="0" indent="0">
              <a:buNone/>
            </a:pPr>
            <a:r>
              <a:rPr lang="ru-RU" dirty="0"/>
              <a:t>1. Базовые понятия</a:t>
            </a:r>
          </a:p>
          <a:p>
            <a:pPr marL="0" indent="0">
              <a:buNone/>
            </a:pPr>
            <a:r>
              <a:rPr lang="ru-RU" dirty="0"/>
              <a:t>2. Задачи машинного обучения</a:t>
            </a:r>
          </a:p>
          <a:p>
            <a:pPr marL="0" indent="0">
              <a:buNone/>
            </a:pPr>
            <a:r>
              <a:rPr lang="en-US" dirty="0"/>
              <a:t>3. </a:t>
            </a:r>
            <a:r>
              <a:rPr lang="ru-RU" dirty="0"/>
              <a:t>Типы машинного обучения</a:t>
            </a:r>
          </a:p>
          <a:p>
            <a:pPr marL="0" indent="0">
              <a:buNone/>
            </a:pPr>
            <a:r>
              <a:rPr lang="en-US" dirty="0"/>
              <a:t>4</a:t>
            </a:r>
            <a:r>
              <a:rPr lang="ru-RU" dirty="0"/>
              <a:t>. Основные проблемы</a:t>
            </a:r>
          </a:p>
          <a:p>
            <a:pPr marL="0" indent="0">
              <a:buNone/>
            </a:pPr>
            <a:endParaRPr lang="ru-RU" dirty="0"/>
          </a:p>
        </p:txBody>
      </p:sp>
    </p:spTree>
    <p:extLst>
      <p:ext uri="{BB962C8B-B14F-4D97-AF65-F5344CB8AC3E}">
        <p14:creationId xmlns:p14="http://schemas.microsoft.com/office/powerpoint/2010/main" val="2687887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Calibri"/>
              <a:buNone/>
            </a:pPr>
            <a:r>
              <a:rPr lang="ru-RU" b="1" dirty="0">
                <a:effectLst>
                  <a:outerShdw blurRad="38100" dist="38100" dir="2700000" algn="tl">
                    <a:srgbClr val="000000">
                      <a:alpha val="43137"/>
                    </a:srgbClr>
                  </a:outerShdw>
                </a:effectLst>
              </a:rPr>
              <a:t>Что такое машинное обучение?</a:t>
            </a:r>
            <a:endParaRPr b="1" dirty="0">
              <a:effectLst>
                <a:outerShdw blurRad="38100" dist="38100" dir="2700000" algn="tl">
                  <a:srgbClr val="000000">
                    <a:alpha val="43137"/>
                  </a:srgbClr>
                </a:outerShdw>
              </a:effectLst>
            </a:endParaRPr>
          </a:p>
        </p:txBody>
      </p:sp>
      <p:sp>
        <p:nvSpPr>
          <p:cNvPr id="108" name="Google Shape;108;p2"/>
          <p:cNvSpPr txBox="1">
            <a:spLocks noGrp="1"/>
          </p:cNvSpPr>
          <p:nvPr>
            <p:ph type="body" idx="1"/>
          </p:nvPr>
        </p:nvSpPr>
        <p:spPr>
          <a:xfrm>
            <a:off x="1097280" y="1845733"/>
            <a:ext cx="10058400" cy="4902199"/>
          </a:xfrm>
          <a:prstGeom prst="rect">
            <a:avLst/>
          </a:prstGeom>
          <a:noFill/>
          <a:ln>
            <a:noFill/>
          </a:ln>
        </p:spPr>
        <p:txBody>
          <a:bodyPr spcFirstLastPara="1" wrap="square" lIns="0" tIns="45700" rIns="0" bIns="45700" anchor="t" anchorCtr="0">
            <a:normAutofit/>
          </a:bodyPr>
          <a:lstStyle/>
          <a:p>
            <a:pPr marL="0" lvl="0" indent="0" algn="just" rtl="0">
              <a:lnSpc>
                <a:spcPct val="90000"/>
              </a:lnSpc>
              <a:spcBef>
                <a:spcPts val="0"/>
              </a:spcBef>
              <a:spcAft>
                <a:spcPts val="0"/>
              </a:spcAft>
              <a:buSzPts val="2800"/>
              <a:buNone/>
            </a:pPr>
            <a:r>
              <a:rPr lang="ru-RU" sz="2800" b="1" dirty="0"/>
              <a:t>Машинное обучение (МО) </a:t>
            </a:r>
            <a:r>
              <a:rPr lang="en-US" dirty="0"/>
              <a:t>–</a:t>
            </a:r>
            <a:r>
              <a:rPr lang="ru-RU" sz="2800" dirty="0"/>
              <a:t> это общий термин для решения проблем, для которых разработка алгоритмов программистами-людьми была бы материально затратной, вместо этого проблемы решаются, помогая машинам «обнаружить» свои «собственные» алгоритмы без необходимости быть явно закодированными, как это принято при классическом подходе к решению</a:t>
            </a:r>
            <a:endParaRPr dirty="0"/>
          </a:p>
          <a:p>
            <a:pPr marL="0" lvl="0" indent="0" algn="just" rtl="0">
              <a:lnSpc>
                <a:spcPct val="90000"/>
              </a:lnSpc>
              <a:spcBef>
                <a:spcPts val="1400"/>
              </a:spcBef>
              <a:spcAft>
                <a:spcPts val="0"/>
              </a:spcAft>
              <a:buSzPts val="2800"/>
              <a:buNone/>
            </a:pPr>
            <a:r>
              <a:rPr lang="ru-RU" sz="2800" dirty="0"/>
              <a:t>Возможность поиска алгоритма достигается с помощью </a:t>
            </a:r>
            <a:r>
              <a:rPr lang="ru-RU" sz="2800" b="1" dirty="0"/>
              <a:t>заданной цели</a:t>
            </a:r>
            <a:r>
              <a:rPr lang="ru-RU" sz="2800" dirty="0"/>
              <a:t> и определенного количества </a:t>
            </a:r>
            <a:r>
              <a:rPr lang="ru-RU" sz="2800" b="1" dirty="0"/>
              <a:t>параметров модели</a:t>
            </a:r>
            <a:r>
              <a:rPr lang="ru-RU" sz="2800" dirty="0"/>
              <a:t>, которые изменяются в процессе обучения</a:t>
            </a:r>
            <a:endParaRPr sz="2800" dirty="0"/>
          </a:p>
        </p:txBody>
      </p:sp>
      <p:sp>
        <p:nvSpPr>
          <p:cNvPr id="2" name="Прямоугольник 1"/>
          <p:cNvSpPr/>
          <p:nvPr/>
        </p:nvSpPr>
        <p:spPr>
          <a:xfrm>
            <a:off x="0" y="-6436"/>
            <a:ext cx="2303836" cy="369332"/>
          </a:xfrm>
          <a:prstGeom prst="rect">
            <a:avLst/>
          </a:prstGeom>
        </p:spPr>
        <p:txBody>
          <a:bodyPr wrap="none">
            <a:spAutoFit/>
          </a:bodyPr>
          <a:lstStyle/>
          <a:p>
            <a:r>
              <a:rPr lang="ru-RU" b="1" dirty="0"/>
              <a:t>1</a:t>
            </a:r>
            <a:r>
              <a:rPr lang="en-US" b="1" dirty="0"/>
              <a:t>/4</a:t>
            </a:r>
            <a:r>
              <a:rPr lang="ru-RU" b="1" dirty="0"/>
              <a:t> Базовые понятия</a:t>
            </a:r>
          </a:p>
        </p:txBody>
      </p:sp>
    </p:spTree>
    <p:extLst>
      <p:ext uri="{BB962C8B-B14F-4D97-AF65-F5344CB8AC3E}">
        <p14:creationId xmlns:p14="http://schemas.microsoft.com/office/powerpoint/2010/main" val="2398607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Calibri"/>
              <a:buNone/>
            </a:pPr>
            <a:r>
              <a:rPr lang="ru-RU" b="1" dirty="0">
                <a:effectLst>
                  <a:outerShdw blurRad="38100" dist="38100" dir="2700000" algn="tl">
                    <a:srgbClr val="000000">
                      <a:alpha val="43137"/>
                    </a:srgbClr>
                  </a:outerShdw>
                </a:effectLst>
              </a:rPr>
              <a:t>Базовые определения (1)</a:t>
            </a:r>
            <a:endParaRPr b="1" dirty="0">
              <a:effectLst>
                <a:outerShdw blurRad="38100" dist="38100" dir="2700000" algn="tl">
                  <a:srgbClr val="000000">
                    <a:alpha val="43137"/>
                  </a:srgbClr>
                </a:outerShdw>
              </a:effectLst>
            </a:endParaRPr>
          </a:p>
        </p:txBody>
      </p:sp>
      <p:sp>
        <p:nvSpPr>
          <p:cNvPr id="138" name="Google Shape;138;p5"/>
          <p:cNvSpPr txBox="1">
            <a:spLocks noGrp="1"/>
          </p:cNvSpPr>
          <p:nvPr>
            <p:ph type="body" idx="1"/>
          </p:nvPr>
        </p:nvSpPr>
        <p:spPr>
          <a:xfrm>
            <a:off x="1097280" y="1845733"/>
            <a:ext cx="10058400" cy="4800599"/>
          </a:xfrm>
          <a:prstGeom prst="rect">
            <a:avLst/>
          </a:prstGeom>
          <a:noFill/>
          <a:ln>
            <a:noFill/>
          </a:ln>
        </p:spPr>
        <p:txBody>
          <a:bodyPr spcFirstLastPara="1" wrap="square" lIns="0" tIns="45700" rIns="0" bIns="45700" anchor="t" anchorCtr="0">
            <a:noAutofit/>
          </a:bodyPr>
          <a:lstStyle/>
          <a:p>
            <a:pPr marL="0" indent="0" algn="just">
              <a:spcBef>
                <a:spcPts val="0"/>
              </a:spcBef>
              <a:buSzPts val="2800"/>
              <a:buNone/>
            </a:pPr>
            <a:r>
              <a:rPr lang="en-US" b="1" dirty="0"/>
              <a:t>	</a:t>
            </a:r>
            <a:r>
              <a:rPr lang="ru-RU" b="1" dirty="0"/>
              <a:t>Экземпляр (</a:t>
            </a:r>
            <a:r>
              <a:rPr lang="ru-RU" b="1" dirty="0" err="1"/>
              <a:t>instance</a:t>
            </a:r>
            <a:r>
              <a:rPr lang="ru-RU" b="1" dirty="0"/>
              <a:t>) </a:t>
            </a:r>
            <a:r>
              <a:rPr lang="ru-RU" dirty="0"/>
              <a:t>или </a:t>
            </a:r>
            <a:r>
              <a:rPr lang="ru-RU" b="1" dirty="0"/>
              <a:t>пример</a:t>
            </a:r>
            <a:r>
              <a:rPr lang="ru-RU" dirty="0"/>
              <a:t> </a:t>
            </a:r>
            <a:r>
              <a:rPr lang="ru-RU" b="1" dirty="0"/>
              <a:t>(</a:t>
            </a:r>
            <a:r>
              <a:rPr lang="ru-RU" b="1" dirty="0" err="1"/>
              <a:t>example</a:t>
            </a:r>
            <a:r>
              <a:rPr lang="ru-RU" b="1" dirty="0"/>
              <a:t>) </a:t>
            </a:r>
            <a:r>
              <a:rPr lang="ru-RU" dirty="0"/>
              <a:t>– один объект, наблюдение, транзакция или запись</a:t>
            </a:r>
            <a:endParaRPr lang="en-US" b="1" dirty="0"/>
          </a:p>
          <a:p>
            <a:pPr marL="0" indent="0" algn="just">
              <a:spcBef>
                <a:spcPts val="0"/>
              </a:spcBef>
              <a:buSzPts val="2800"/>
              <a:buNone/>
            </a:pPr>
            <a:r>
              <a:rPr lang="en-US" b="1" dirty="0"/>
              <a:t>	</a:t>
            </a:r>
            <a:r>
              <a:rPr lang="ru-RU" b="1" dirty="0"/>
              <a:t>Цель (</a:t>
            </a:r>
            <a:r>
              <a:rPr lang="ru-RU" b="1" dirty="0" err="1"/>
              <a:t>target</a:t>
            </a:r>
            <a:r>
              <a:rPr lang="ru-RU" b="1" dirty="0"/>
              <a:t>) </a:t>
            </a:r>
            <a:r>
              <a:rPr lang="ru-RU" dirty="0"/>
              <a:t>или </a:t>
            </a:r>
            <a:r>
              <a:rPr lang="ru-RU" b="1" dirty="0"/>
              <a:t>метка (</a:t>
            </a:r>
            <a:r>
              <a:rPr lang="ru-RU" b="1" dirty="0" err="1"/>
              <a:t>label</a:t>
            </a:r>
            <a:r>
              <a:rPr lang="ru-RU" b="1" dirty="0"/>
              <a:t>) </a:t>
            </a:r>
            <a:r>
              <a:rPr lang="ru-RU" dirty="0"/>
              <a:t>– численный или категориальный (метка) атрибут, представляющий интерес. Это переменная, которая предсказывается для каждого нового экземпляра</a:t>
            </a:r>
            <a:endParaRPr lang="en-US" b="1" dirty="0"/>
          </a:p>
          <a:p>
            <a:pPr marL="0" indent="0" algn="just">
              <a:spcBef>
                <a:spcPts val="0"/>
              </a:spcBef>
              <a:buSzPts val="2800"/>
              <a:buNone/>
            </a:pPr>
            <a:r>
              <a:rPr lang="en-US" b="1" dirty="0"/>
              <a:t>	</a:t>
            </a:r>
            <a:r>
              <a:rPr lang="ru-RU" b="1" dirty="0"/>
              <a:t>Признаки (</a:t>
            </a:r>
            <a:r>
              <a:rPr lang="ru-RU" b="1" dirty="0" err="1"/>
              <a:t>features</a:t>
            </a:r>
            <a:r>
              <a:rPr lang="ru-RU" b="1" dirty="0"/>
              <a:t>) </a:t>
            </a:r>
            <a:r>
              <a:rPr lang="ru-RU" dirty="0"/>
              <a:t>– Входные атрибуты, используемые для предсказания целевой переменной. Они могут быть как числовыми, так и категориальными</a:t>
            </a:r>
          </a:p>
          <a:p>
            <a:pPr marL="0" indent="0" algn="just">
              <a:spcBef>
                <a:spcPts val="0"/>
              </a:spcBef>
              <a:buSzPts val="2800"/>
              <a:buNone/>
            </a:pPr>
            <a:r>
              <a:rPr lang="en-US" b="1" dirty="0"/>
              <a:t>	</a:t>
            </a:r>
            <a:r>
              <a:rPr lang="ru-RU" b="1" dirty="0"/>
              <a:t>Модель (</a:t>
            </a:r>
            <a:r>
              <a:rPr lang="ru-RU" b="1" dirty="0" err="1"/>
              <a:t>model</a:t>
            </a:r>
            <a:r>
              <a:rPr lang="ru-RU" b="1" dirty="0"/>
              <a:t>) </a:t>
            </a:r>
            <a:r>
              <a:rPr lang="ru-RU" dirty="0"/>
              <a:t>– Математический объект, описывающий соотношение между признаками и целевой переменной</a:t>
            </a:r>
            <a:endParaRPr lang="en-US" dirty="0"/>
          </a:p>
          <a:p>
            <a:pPr marL="0" indent="0" algn="just">
              <a:spcBef>
                <a:spcPts val="0"/>
              </a:spcBef>
              <a:buSzPts val="2800"/>
              <a:buNone/>
            </a:pPr>
            <a:r>
              <a:rPr lang="en-US" b="1" dirty="0"/>
              <a:t>	</a:t>
            </a:r>
            <a:r>
              <a:rPr lang="en-US" sz="2800" b="1" dirty="0"/>
              <a:t>	</a:t>
            </a:r>
            <a:endParaRPr dirty="0"/>
          </a:p>
          <a:p>
            <a:pPr marL="91440" lvl="0" indent="0" algn="l" rtl="0">
              <a:lnSpc>
                <a:spcPct val="90000"/>
              </a:lnSpc>
              <a:spcBef>
                <a:spcPts val="1400"/>
              </a:spcBef>
              <a:spcAft>
                <a:spcPts val="0"/>
              </a:spcAft>
              <a:buSzPts val="2800"/>
              <a:buNone/>
            </a:pPr>
            <a:endParaRPr sz="2800" dirty="0"/>
          </a:p>
        </p:txBody>
      </p:sp>
    </p:spTree>
    <p:extLst>
      <p:ext uri="{BB962C8B-B14F-4D97-AF65-F5344CB8AC3E}">
        <p14:creationId xmlns:p14="http://schemas.microsoft.com/office/powerpoint/2010/main" val="1410711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algn="ctr">
              <a:lnSpc>
                <a:spcPct val="85000"/>
              </a:lnSpc>
              <a:spcBef>
                <a:spcPts val="0"/>
              </a:spcBef>
              <a:buClr>
                <a:srgbClr val="3F3F3F"/>
              </a:buClr>
              <a:buSzPts val="4800"/>
            </a:pPr>
            <a:r>
              <a:rPr lang="ru-RU" b="1" dirty="0">
                <a:effectLst>
                  <a:outerShdw blurRad="38100" dist="38100" dir="2700000" algn="tl">
                    <a:srgbClr val="000000">
                      <a:alpha val="43137"/>
                    </a:srgbClr>
                  </a:outerShdw>
                </a:effectLst>
              </a:rPr>
              <a:t>Базовые определения (2)</a:t>
            </a:r>
            <a:endParaRPr b="1" dirty="0">
              <a:effectLst>
                <a:outerShdw blurRad="38100" dist="38100" dir="2700000" algn="tl">
                  <a:srgbClr val="000000">
                    <a:alpha val="43137"/>
                  </a:srgbClr>
                </a:outerShdw>
              </a:effectLst>
            </a:endParaRPr>
          </a:p>
        </p:txBody>
      </p:sp>
      <p:sp>
        <p:nvSpPr>
          <p:cNvPr id="144" name="Google Shape;144;p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Autofit/>
          </a:bodyPr>
          <a:lstStyle/>
          <a:p>
            <a:pPr marL="0" lvl="0" indent="0" algn="just" rtl="0">
              <a:lnSpc>
                <a:spcPct val="90000"/>
              </a:lnSpc>
              <a:spcBef>
                <a:spcPts val="0"/>
              </a:spcBef>
              <a:buSzPts val="2800"/>
              <a:buNone/>
            </a:pPr>
            <a:r>
              <a:rPr lang="en-US" sz="2800" b="1" dirty="0"/>
              <a:t>	</a:t>
            </a:r>
            <a:r>
              <a:rPr lang="ru-RU" sz="2800" b="1" dirty="0"/>
              <a:t>Обучающая выборка (</a:t>
            </a:r>
            <a:r>
              <a:rPr lang="ru-RU" sz="2800" b="1" dirty="0" err="1"/>
              <a:t>training</a:t>
            </a:r>
            <a:r>
              <a:rPr lang="ru-RU" sz="2800" b="1" dirty="0"/>
              <a:t> </a:t>
            </a:r>
            <a:r>
              <a:rPr lang="ru-RU" sz="2800" b="1" dirty="0" err="1"/>
              <a:t>dataset</a:t>
            </a:r>
            <a:r>
              <a:rPr lang="ru-RU" sz="2800" b="1" dirty="0"/>
              <a:t>)</a:t>
            </a:r>
            <a:r>
              <a:rPr lang="ru-RU" sz="2800" dirty="0"/>
              <a:t> – выборка данных, используемая для корректировки параметров модели в процессе ее обучения</a:t>
            </a:r>
            <a:endParaRPr dirty="0"/>
          </a:p>
          <a:p>
            <a:pPr marL="0" lvl="0" indent="0" algn="just" rtl="0">
              <a:lnSpc>
                <a:spcPct val="90000"/>
              </a:lnSpc>
              <a:spcBef>
                <a:spcPts val="0"/>
              </a:spcBef>
              <a:buSzPts val="2800"/>
              <a:buNone/>
            </a:pPr>
            <a:r>
              <a:rPr lang="en-US" sz="2800" b="1" dirty="0"/>
              <a:t>	</a:t>
            </a:r>
            <a:r>
              <a:rPr lang="ru-RU" sz="2800" b="1" dirty="0"/>
              <a:t>Тестовая выборка (</a:t>
            </a:r>
            <a:r>
              <a:rPr lang="ru-RU" sz="2800" b="1" dirty="0" err="1"/>
              <a:t>test</a:t>
            </a:r>
            <a:r>
              <a:rPr lang="ru-RU" sz="2800" b="1" dirty="0"/>
              <a:t> </a:t>
            </a:r>
            <a:r>
              <a:rPr lang="ru-RU" sz="2800" b="1" dirty="0" err="1"/>
              <a:t>dataset</a:t>
            </a:r>
            <a:r>
              <a:rPr lang="ru-RU" sz="2800" b="1" dirty="0"/>
              <a:t>)</a:t>
            </a:r>
            <a:r>
              <a:rPr lang="ru-RU" sz="2800" dirty="0"/>
              <a:t> – выборка данных, которая применяется для проверки эффективности обученной модели</a:t>
            </a:r>
          </a:p>
          <a:p>
            <a:pPr marL="0" indent="0" algn="just">
              <a:spcBef>
                <a:spcPts val="0"/>
              </a:spcBef>
              <a:buSzPts val="2800"/>
              <a:buNone/>
            </a:pPr>
            <a:r>
              <a:rPr lang="en-US" b="1" dirty="0"/>
              <a:t>	</a:t>
            </a:r>
            <a:r>
              <a:rPr lang="ru-RU" b="1" dirty="0"/>
              <a:t>Контрольный набор (</a:t>
            </a:r>
            <a:r>
              <a:rPr lang="en-US" b="1" dirty="0"/>
              <a:t>validation dataset)</a:t>
            </a:r>
            <a:r>
              <a:rPr lang="ru-RU" dirty="0"/>
              <a:t> нужен, чтобы найти оптимальные значения так называемых </a:t>
            </a:r>
            <a:r>
              <a:rPr lang="ru-RU" dirty="0" err="1"/>
              <a:t>гиперпараметров</a:t>
            </a:r>
            <a:endParaRPr lang="ru-RU" dirty="0"/>
          </a:p>
          <a:p>
            <a:pPr marL="0" indent="0" algn="just">
              <a:spcBef>
                <a:spcPts val="0"/>
              </a:spcBef>
              <a:buSzPts val="2800"/>
              <a:buNone/>
            </a:pPr>
            <a:r>
              <a:rPr lang="ru-RU" sz="2800" b="1" dirty="0"/>
              <a:t>	</a:t>
            </a:r>
            <a:r>
              <a:rPr lang="ru-RU" sz="2800" b="1" dirty="0" err="1"/>
              <a:t>Гиперпараметр</a:t>
            </a:r>
            <a:r>
              <a:rPr lang="ru-RU" sz="2800" b="1" dirty="0"/>
              <a:t> (</a:t>
            </a:r>
            <a:r>
              <a:rPr lang="en-US" b="1" dirty="0" err="1"/>
              <a:t>hyperparameter</a:t>
            </a:r>
            <a:r>
              <a:rPr lang="ru-RU" b="1" dirty="0"/>
              <a:t>)</a:t>
            </a:r>
            <a:r>
              <a:rPr lang="ru-RU" sz="2800" dirty="0"/>
              <a:t> – это параметр, значение которого используется либо в процессе обучения модели, либо для определения ее архитектуры</a:t>
            </a:r>
            <a:endParaRPr lang="en-US" sz="2800" dirty="0"/>
          </a:p>
          <a:p>
            <a:pPr marL="0" indent="0" algn="just">
              <a:spcBef>
                <a:spcPts val="0"/>
              </a:spcBef>
              <a:buSzPts val="2800"/>
              <a:buNone/>
            </a:pPr>
            <a:r>
              <a:rPr lang="en-US" b="1" dirty="0"/>
              <a:t>	</a:t>
            </a:r>
            <a:r>
              <a:rPr lang="ru-RU" b="1" dirty="0"/>
              <a:t>Обобщающая способность (</a:t>
            </a:r>
            <a:r>
              <a:rPr lang="ru-RU" b="1" dirty="0" err="1"/>
              <a:t>generalization</a:t>
            </a:r>
            <a:r>
              <a:rPr lang="ru-RU" b="1" dirty="0"/>
              <a:t> </a:t>
            </a:r>
            <a:r>
              <a:rPr lang="ru-RU" b="1" dirty="0" err="1"/>
              <a:t>capability</a:t>
            </a:r>
            <a:r>
              <a:rPr lang="ru-RU" b="1" dirty="0"/>
              <a:t>) </a:t>
            </a:r>
            <a:r>
              <a:rPr lang="ru-RU" dirty="0"/>
              <a:t>– способность модели выдавать корректные данные для примеров, не входящих в обучающую выборку</a:t>
            </a:r>
          </a:p>
          <a:p>
            <a:pPr marL="0" lvl="0" indent="0" algn="just" rtl="0">
              <a:lnSpc>
                <a:spcPct val="90000"/>
              </a:lnSpc>
              <a:spcBef>
                <a:spcPts val="1400"/>
              </a:spcBef>
              <a:spcAft>
                <a:spcPts val="0"/>
              </a:spcAft>
              <a:buSzPts val="2800"/>
              <a:buNone/>
            </a:pPr>
            <a:endParaRPr dirty="0"/>
          </a:p>
        </p:txBody>
      </p:sp>
    </p:spTree>
    <p:extLst>
      <p:ext uri="{BB962C8B-B14F-4D97-AF65-F5344CB8AC3E}">
        <p14:creationId xmlns:p14="http://schemas.microsoft.com/office/powerpoint/2010/main" val="2879267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Базовые определения (3)</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838200" y="1825625"/>
                <a:ext cx="10515600" cy="4852266"/>
              </a:xfrm>
            </p:spPr>
            <p:txBody>
              <a:bodyPr>
                <a:normAutofit fontScale="92500" lnSpcReduction="10000"/>
              </a:bodyPr>
              <a:lstStyle/>
              <a:p>
                <a:pPr marL="0" indent="0" algn="just">
                  <a:buNone/>
                </a:pPr>
                <a:r>
                  <a:rPr lang="ru-RU" dirty="0"/>
                  <a:t>	</a:t>
                </a:r>
                <a:r>
                  <a:rPr lang="ru-RU" b="1" dirty="0"/>
                  <a:t>Целевая функция (о</a:t>
                </a:r>
                <a:r>
                  <a:rPr lang="en-US" b="1" dirty="0" err="1"/>
                  <a:t>bjective</a:t>
                </a:r>
                <a:r>
                  <a:rPr lang="en-US" b="1" dirty="0"/>
                  <a:t> function</a:t>
                </a:r>
                <a:r>
                  <a:rPr lang="ru-RU" b="1" dirty="0"/>
                  <a:t>, функция потерь – </a:t>
                </a:r>
                <a:r>
                  <a:rPr lang="en-US" b="1" dirty="0"/>
                  <a:t>loss function</a:t>
                </a:r>
                <a:r>
                  <a:rPr lang="ru-RU" b="1" dirty="0"/>
                  <a:t>) </a:t>
                </a:r>
                <a:r>
                  <a:rPr lang="ru-RU" dirty="0"/>
                  <a:t>– математическое выражение</a:t>
                </a:r>
                <a:r>
                  <a:rPr lang="en-US" dirty="0"/>
                  <a:t>,</a:t>
                </a:r>
                <a:r>
                  <a:rPr lang="ru-RU" dirty="0"/>
                  <a:t> количественно определяющее разницу – или «потерю» – между прогнозируемым выходом модели и фактической меткой для данного фрагмента данных.</a:t>
                </a:r>
              </a:p>
              <a:p>
                <a:pPr marL="0" indent="0" algn="just">
                  <a:buNone/>
                </a:pPr>
                <a:r>
                  <a:rPr lang="ru-RU" dirty="0"/>
                  <a:t>Примером такого подхода является, например, </a:t>
                </a:r>
                <a:r>
                  <a:rPr lang="ru-RU" b="1" i="1" dirty="0"/>
                  <a:t>среднеквадратический критерий (</a:t>
                </a:r>
                <a:r>
                  <a:rPr lang="en-US" b="1" i="1" dirty="0"/>
                  <a:t>mean squared error)</a:t>
                </a:r>
                <a:r>
                  <a:rPr lang="ru-RU" dirty="0"/>
                  <a:t> точности аппроксимации.</a:t>
                </a: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r>
                  <a:rPr lang="ru-RU" dirty="0"/>
                  <a:t>где </a:t>
                </a:r>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𝑖</m:t>
                        </m:r>
                      </m:sub>
                    </m:sSub>
                    <m:r>
                      <a:rPr lang="ru-RU" b="0" i="0" smtClean="0">
                        <a:latin typeface="Cambria Math" panose="02040503050406030204" pitchFamily="18" charset="0"/>
                      </a:rPr>
                      <m:t>−</m:t>
                    </m:r>
                  </m:oMath>
                </a14:m>
                <a:r>
                  <a:rPr lang="ru-RU" dirty="0"/>
                  <a:t>это точные эталонные заданные значения функции </a:t>
                </a:r>
                <a:endParaRPr lang="en-US" b="0" i="1" dirty="0">
                  <a:latin typeface="Cambria Math" panose="02040503050406030204" pitchFamily="18" charset="0"/>
                </a:endParaRPr>
              </a:p>
              <a:p>
                <a:pPr marL="0" indent="0" algn="just">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ru-RU" dirty="0"/>
                  <a:t> значения, прогнозируемые моделью</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838200" y="1825625"/>
                <a:ext cx="10515600" cy="4852266"/>
              </a:xfrm>
              <a:blipFill rotWithShape="0">
                <a:blip r:embed="rId2"/>
                <a:stretch>
                  <a:fillRect l="-1043" t="-2513" r="-986" b="-2136"/>
                </a:stretch>
              </a:blipFill>
            </p:spPr>
            <p:txBody>
              <a:bodyPr/>
              <a:lstStyle/>
              <a:p>
                <a:r>
                  <a:rPr lang="ru-RU">
                    <a:noFill/>
                  </a:rPr>
                  <a:t> </a:t>
                </a:r>
              </a:p>
            </p:txBody>
          </p:sp>
        </mc:Fallback>
      </mc:AlternateContent>
      <p:pic>
        <p:nvPicPr>
          <p:cNvPr id="5" name="Рисунок 4"/>
          <p:cNvPicPr>
            <a:picLocks noChangeAspect="1"/>
          </p:cNvPicPr>
          <p:nvPr/>
        </p:nvPicPr>
        <p:blipFill rotWithShape="1">
          <a:blip r:embed="rId3"/>
          <a:srcRect t="11762" b="7367"/>
          <a:stretch/>
        </p:blipFill>
        <p:spPr>
          <a:xfrm>
            <a:off x="3408890" y="4251758"/>
            <a:ext cx="4324350" cy="1186249"/>
          </a:xfrm>
          <a:prstGeom prst="rect">
            <a:avLst/>
          </a:prstGeom>
        </p:spPr>
      </p:pic>
    </p:spTree>
    <p:extLst>
      <p:ext uri="{BB962C8B-B14F-4D97-AF65-F5344CB8AC3E}">
        <p14:creationId xmlns:p14="http://schemas.microsoft.com/office/powerpoint/2010/main" val="3464350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Минимизация функции</a:t>
            </a:r>
            <a:r>
              <a:rPr lang="en-US" b="1" dirty="0">
                <a:effectLst>
                  <a:outerShdw blurRad="38100" dist="38100" dir="2700000" algn="tl">
                    <a:srgbClr val="000000">
                      <a:alpha val="43137"/>
                    </a:srgbClr>
                  </a:outerShdw>
                </a:effectLst>
              </a:rPr>
              <a:t> </a:t>
            </a:r>
            <a:r>
              <a:rPr lang="ru-RU" b="1" dirty="0">
                <a:effectLst>
                  <a:outerShdw blurRad="38100" dist="38100" dir="2700000" algn="tl">
                    <a:srgbClr val="000000">
                      <a:alpha val="43137"/>
                    </a:srgbClr>
                  </a:outerShdw>
                </a:effectLst>
              </a:rPr>
              <a:t>потерь</a:t>
            </a:r>
          </a:p>
        </p:txBody>
      </p:sp>
      <p:sp>
        <p:nvSpPr>
          <p:cNvPr id="3" name="Объект 2"/>
          <p:cNvSpPr>
            <a:spLocks noGrp="1"/>
          </p:cNvSpPr>
          <p:nvPr>
            <p:ph idx="1"/>
          </p:nvPr>
        </p:nvSpPr>
        <p:spPr>
          <a:xfrm>
            <a:off x="664029" y="1444624"/>
            <a:ext cx="6067697" cy="5337175"/>
          </a:xfrm>
        </p:spPr>
        <p:txBody>
          <a:bodyPr/>
          <a:lstStyle/>
          <a:p>
            <a:pPr marL="0" indent="0" algn="just">
              <a:buNone/>
            </a:pPr>
            <a:r>
              <a:rPr lang="ru-RU" dirty="0"/>
              <a:t>Во время каждой итерации обучения модель обрабатывает обучающие данные и делает прогнозы. </a:t>
            </a:r>
          </a:p>
          <a:p>
            <a:pPr marL="0" indent="0" algn="just">
              <a:buNone/>
            </a:pPr>
            <a:r>
              <a:rPr lang="ru-RU" dirty="0"/>
              <a:t>Далее осуществляется сравнение этих прогнозов с истинными метками с использованием функции потерь. Более высокое значение потерь указывает на большее расхождение и большую потребность в </a:t>
            </a:r>
            <a:r>
              <a:rPr lang="ru-RU" b="1" dirty="0"/>
              <a:t>корректировке</a:t>
            </a:r>
            <a:r>
              <a:rPr lang="ru-RU" dirty="0"/>
              <a:t>, в то время как более низкое значение потерь означает, что прогнозы модели ближе к фактическим значениям.</a:t>
            </a:r>
          </a:p>
        </p:txBody>
      </p:sp>
      <p:pic>
        <p:nvPicPr>
          <p:cNvPr id="5" name="Рисунок 4"/>
          <p:cNvPicPr>
            <a:picLocks noChangeAspect="1"/>
          </p:cNvPicPr>
          <p:nvPr/>
        </p:nvPicPr>
        <p:blipFill rotWithShape="1">
          <a:blip r:embed="rId2">
            <a:extLst>
              <a:ext uri="{28A0092B-C50C-407E-A947-70E740481C1C}">
                <a14:useLocalDpi xmlns:a14="http://schemas.microsoft.com/office/drawing/2010/main" val="0"/>
              </a:ext>
            </a:extLst>
          </a:blip>
          <a:srcRect l="2946" r="2309"/>
          <a:stretch/>
        </p:blipFill>
        <p:spPr>
          <a:xfrm>
            <a:off x="6871063" y="2209166"/>
            <a:ext cx="5320937" cy="3293344"/>
          </a:xfrm>
          <a:prstGeom prst="rect">
            <a:avLst/>
          </a:prstGeom>
        </p:spPr>
      </p:pic>
    </p:spTree>
    <p:extLst>
      <p:ext uri="{BB962C8B-B14F-4D97-AF65-F5344CB8AC3E}">
        <p14:creationId xmlns:p14="http://schemas.microsoft.com/office/powerpoint/2010/main" val="793464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a:spcAft>
                <a:spcPts val="0"/>
              </a:spcAft>
              <a:buClr>
                <a:srgbClr val="3F3F3F"/>
              </a:buClr>
              <a:buSzPts val="4800"/>
            </a:pPr>
            <a:r>
              <a:rPr lang="ru-RU" b="1" dirty="0">
                <a:effectLst>
                  <a:outerShdw blurRad="38100" dist="38100" dir="2700000" algn="tl">
                    <a:srgbClr val="000000">
                      <a:alpha val="43137"/>
                    </a:srgbClr>
                  </a:outerShdw>
                </a:effectLst>
              </a:rPr>
              <a:t>Процесс обучения модели МО</a:t>
            </a:r>
            <a:endParaRPr b="1" dirty="0">
              <a:effectLst>
                <a:outerShdw blurRad="38100" dist="38100" dir="2700000" algn="tl">
                  <a:srgbClr val="000000">
                    <a:alpha val="43137"/>
                  </a:srgbClr>
                </a:outerShdw>
              </a:effectLst>
            </a:endParaRPr>
          </a:p>
        </p:txBody>
      </p:sp>
      <p:pic>
        <p:nvPicPr>
          <p:cNvPr id="3" name="Рисунок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58804" y="1892114"/>
            <a:ext cx="7335352" cy="4771922"/>
          </a:xfrm>
          <a:prstGeom prst="rect">
            <a:avLst/>
          </a:prstGeom>
        </p:spPr>
      </p:pic>
    </p:spTree>
    <p:extLst>
      <p:ext uri="{BB962C8B-B14F-4D97-AF65-F5344CB8AC3E}">
        <p14:creationId xmlns:p14="http://schemas.microsoft.com/office/powerpoint/2010/main" val="2668940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r>
              <a:rPr lang="ru-RU" b="1" dirty="0">
                <a:effectLst>
                  <a:outerShdw blurRad="38100" dist="38100" dir="2700000" algn="tl">
                    <a:srgbClr val="000000">
                      <a:alpha val="43137"/>
                    </a:srgbClr>
                  </a:outerShdw>
                </a:effectLst>
              </a:rPr>
              <a:t>Разбиение исходной выборки</a:t>
            </a:r>
          </a:p>
        </p:txBody>
      </p:sp>
      <p:sp>
        <p:nvSpPr>
          <p:cNvPr id="3" name="Объект 2"/>
          <p:cNvSpPr>
            <a:spLocks noGrp="1"/>
          </p:cNvSpPr>
          <p:nvPr>
            <p:ph idx="1"/>
          </p:nvPr>
        </p:nvSpPr>
        <p:spPr>
          <a:xfrm>
            <a:off x="403014" y="1363132"/>
            <a:ext cx="11475477" cy="5342467"/>
          </a:xfrm>
        </p:spPr>
        <p:txBody>
          <a:bodyPr>
            <a:normAutofit/>
          </a:bodyPr>
          <a:lstStyle/>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r>
              <a:rPr lang="ru-RU" sz="2400" b="1" dirty="0"/>
              <a:t>Контрольный и тестовый наборы</a:t>
            </a:r>
            <a:r>
              <a:rPr lang="ru-RU" sz="2400" dirty="0"/>
              <a:t> часто называют зарезервированными наборами: они содержат примеры, которые </a:t>
            </a:r>
            <a:r>
              <a:rPr lang="ru-RU" sz="2400" b="1" dirty="0"/>
              <a:t>не должны </a:t>
            </a:r>
            <a:r>
              <a:rPr lang="ru-RU" sz="2400" dirty="0"/>
              <a:t>предъявляться алгоритму обучения.</a:t>
            </a:r>
          </a:p>
          <a:p>
            <a:pPr marL="0" indent="0">
              <a:buNone/>
            </a:pPr>
            <a:endParaRPr lang="ru-RU" dirty="0"/>
          </a:p>
          <a:p>
            <a:endParaRPr lang="ru-RU" dirty="0"/>
          </a:p>
        </p:txBody>
      </p:sp>
      <p:pic>
        <p:nvPicPr>
          <p:cNvPr id="5" name="Рисунок 4"/>
          <p:cNvPicPr>
            <a:picLocks noChangeAspect="1"/>
          </p:cNvPicPr>
          <p:nvPr/>
        </p:nvPicPr>
        <p:blipFill>
          <a:blip r:embed="rId2"/>
          <a:stretch>
            <a:fillRect/>
          </a:stretch>
        </p:blipFill>
        <p:spPr>
          <a:xfrm>
            <a:off x="2478389" y="1957915"/>
            <a:ext cx="7324725" cy="2076450"/>
          </a:xfrm>
          <a:prstGeom prst="rect">
            <a:avLst/>
          </a:prstGeom>
        </p:spPr>
      </p:pic>
    </p:spTree>
    <p:extLst>
      <p:ext uri="{BB962C8B-B14F-4D97-AF65-F5344CB8AC3E}">
        <p14:creationId xmlns:p14="http://schemas.microsoft.com/office/powerpoint/2010/main" val="2230347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Calibri"/>
              <a:buNone/>
            </a:pPr>
            <a:r>
              <a:rPr lang="ru-RU" b="1" dirty="0">
                <a:effectLst>
                  <a:outerShdw blurRad="38100" dist="38100" dir="2700000" algn="tl">
                    <a:srgbClr val="000000">
                      <a:alpha val="43137"/>
                    </a:srgbClr>
                  </a:outerShdw>
                </a:effectLst>
              </a:rPr>
              <a:t>Основные задачи машинного обучения</a:t>
            </a:r>
            <a:endParaRPr b="1" dirty="0">
              <a:effectLst>
                <a:outerShdw blurRad="38100" dist="38100" dir="2700000" algn="tl">
                  <a:srgbClr val="000000">
                    <a:alpha val="43137"/>
                  </a:srgbClr>
                </a:outerShdw>
              </a:effectLst>
            </a:endParaRPr>
          </a:p>
        </p:txBody>
      </p:sp>
      <p:sp>
        <p:nvSpPr>
          <p:cNvPr id="175" name="Google Shape;175;p9"/>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384048" lvl="1" indent="-254000" algn="l" rtl="0">
              <a:lnSpc>
                <a:spcPct val="90000"/>
              </a:lnSpc>
              <a:spcBef>
                <a:spcPts val="0"/>
              </a:spcBef>
              <a:spcAft>
                <a:spcPts val="0"/>
              </a:spcAft>
              <a:buSzPts val="4000"/>
              <a:buChar char="◦"/>
            </a:pPr>
            <a:r>
              <a:rPr lang="ru-RU" sz="4000" dirty="0"/>
              <a:t>Регрессия</a:t>
            </a:r>
            <a:endParaRPr dirty="0"/>
          </a:p>
          <a:p>
            <a:pPr marL="384048" lvl="1" indent="-254000" algn="l" rtl="0">
              <a:lnSpc>
                <a:spcPct val="90000"/>
              </a:lnSpc>
              <a:spcBef>
                <a:spcPts val="600"/>
              </a:spcBef>
              <a:spcAft>
                <a:spcPts val="0"/>
              </a:spcAft>
              <a:buSzPts val="4000"/>
              <a:buChar char="◦"/>
            </a:pPr>
            <a:r>
              <a:rPr lang="ru-RU" sz="4000" dirty="0"/>
              <a:t>Классификация</a:t>
            </a:r>
            <a:endParaRPr dirty="0"/>
          </a:p>
          <a:p>
            <a:pPr marL="384048" lvl="1" indent="-254000" algn="l" rtl="0">
              <a:lnSpc>
                <a:spcPct val="90000"/>
              </a:lnSpc>
              <a:spcBef>
                <a:spcPts val="600"/>
              </a:spcBef>
              <a:spcAft>
                <a:spcPts val="0"/>
              </a:spcAft>
              <a:buSzPts val="4000"/>
              <a:buChar char="◦"/>
            </a:pPr>
            <a:r>
              <a:rPr lang="ru-RU" sz="4000" dirty="0"/>
              <a:t>Кластеризация</a:t>
            </a:r>
          </a:p>
          <a:p>
            <a:pPr marL="384048" lvl="1" indent="-254000" algn="l" rtl="0">
              <a:lnSpc>
                <a:spcPct val="90000"/>
              </a:lnSpc>
              <a:spcBef>
                <a:spcPts val="600"/>
              </a:spcBef>
              <a:spcAft>
                <a:spcPts val="0"/>
              </a:spcAft>
              <a:buSzPts val="4000"/>
              <a:buChar char="◦"/>
            </a:pPr>
            <a:r>
              <a:rPr lang="ru-RU" sz="4000" dirty="0"/>
              <a:t>Ассоциация</a:t>
            </a:r>
            <a:endParaRPr sz="4000" dirty="0"/>
          </a:p>
          <a:p>
            <a:pPr marL="384048" lvl="1" indent="-254000" algn="l" rtl="0">
              <a:lnSpc>
                <a:spcPct val="90000"/>
              </a:lnSpc>
              <a:spcBef>
                <a:spcPts val="600"/>
              </a:spcBef>
              <a:spcAft>
                <a:spcPts val="0"/>
              </a:spcAft>
              <a:buSzPts val="4000"/>
              <a:buChar char="◦"/>
            </a:pPr>
            <a:r>
              <a:rPr lang="ru-RU" sz="4000" dirty="0"/>
              <a:t>Снижение размерности</a:t>
            </a:r>
            <a:endParaRPr dirty="0"/>
          </a:p>
        </p:txBody>
      </p:sp>
      <p:sp>
        <p:nvSpPr>
          <p:cNvPr id="2" name="Прямоугольник 1"/>
          <p:cNvSpPr/>
          <p:nvPr/>
        </p:nvSpPr>
        <p:spPr>
          <a:xfrm>
            <a:off x="0" y="0"/>
            <a:ext cx="3504870" cy="369332"/>
          </a:xfrm>
          <a:prstGeom prst="rect">
            <a:avLst/>
          </a:prstGeom>
        </p:spPr>
        <p:txBody>
          <a:bodyPr wrap="none">
            <a:spAutoFit/>
          </a:bodyPr>
          <a:lstStyle/>
          <a:p>
            <a:r>
              <a:rPr lang="ru-RU" b="1" dirty="0"/>
              <a:t>2</a:t>
            </a:r>
            <a:r>
              <a:rPr lang="en-US" b="1" dirty="0"/>
              <a:t>/4</a:t>
            </a:r>
            <a:r>
              <a:rPr lang="ru-RU" b="1" dirty="0"/>
              <a:t> Задачи машинного обучения</a:t>
            </a:r>
          </a:p>
        </p:txBody>
      </p:sp>
    </p:spTree>
    <p:extLst>
      <p:ext uri="{BB962C8B-B14F-4D97-AF65-F5344CB8AC3E}">
        <p14:creationId xmlns:p14="http://schemas.microsoft.com/office/powerpoint/2010/main" val="109640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algn="ctr">
              <a:buClr>
                <a:srgbClr val="3F3F3F"/>
              </a:buClr>
              <a:buSzPts val="4800"/>
            </a:pPr>
            <a:r>
              <a:rPr lang="ru-RU" b="1" dirty="0">
                <a:effectLst>
                  <a:outerShdw blurRad="38100" dist="38100" dir="2700000" algn="tl">
                    <a:srgbClr val="000000">
                      <a:alpha val="43137"/>
                    </a:srgbClr>
                  </a:outerShdw>
                </a:effectLst>
              </a:rPr>
              <a:t>Задача регрессии</a:t>
            </a:r>
            <a:endParaRPr b="1"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209" name="Google Shape;209;p14"/>
              <p:cNvSpPr txBox="1">
                <a:spLocks noGrp="1"/>
              </p:cNvSpPr>
              <p:nvPr>
                <p:ph type="body" idx="1"/>
              </p:nvPr>
            </p:nvSpPr>
            <p:spPr>
              <a:xfrm>
                <a:off x="1097280" y="1651000"/>
                <a:ext cx="10058400" cy="4218094"/>
              </a:xfrm>
              <a:prstGeom prst="rect">
                <a:avLst/>
              </a:prstGeom>
              <a:noFill/>
              <a:ln>
                <a:noFill/>
              </a:ln>
            </p:spPr>
            <p:txBody>
              <a:bodyPr spcFirstLastPara="1" wrap="square" lIns="0" tIns="45700" rIns="0" bIns="45700" anchor="t" anchorCtr="0">
                <a:noAutofit/>
              </a:bodyPr>
              <a:lstStyle/>
              <a:p>
                <a:pPr marL="0" lvl="0" indent="0" algn="just" rtl="0">
                  <a:lnSpc>
                    <a:spcPct val="90000"/>
                  </a:lnSpc>
                  <a:spcBef>
                    <a:spcPts val="0"/>
                  </a:spcBef>
                  <a:spcAft>
                    <a:spcPts val="0"/>
                  </a:spcAft>
                  <a:buSzPts val="2800"/>
                  <a:buNone/>
                </a:pPr>
                <a:r>
                  <a:rPr lang="ru-RU" sz="2000" b="1" dirty="0"/>
                  <a:t>Оценочной функцией </a:t>
                </a:r>
                <a:r>
                  <a:rPr lang="ru-RU" sz="2000" dirty="0"/>
                  <a:t>называется отображение </a:t>
                </a:r>
              </a:p>
              <a:p>
                <a:pPr marL="91440" lvl="0" indent="-177800" algn="just" rtl="0">
                  <a:lnSpc>
                    <a:spcPct val="90000"/>
                  </a:lnSpc>
                  <a:spcBef>
                    <a:spcPts val="0"/>
                  </a:spcBef>
                  <a:spcAft>
                    <a:spcPts val="0"/>
                  </a:spcAft>
                  <a:buSzPts val="2800"/>
                  <a:buChar char=" "/>
                </a:pPr>
                <a:endParaRPr lang="ru-RU" sz="2000" dirty="0"/>
              </a:p>
              <a:p>
                <a:pPr marL="0" lvl="0" indent="0" algn="ctr">
                  <a:spcBef>
                    <a:spcPts val="0"/>
                  </a:spcBef>
                  <a:buSzPts val="2800"/>
                  <a:buNone/>
                </a:pPr>
                <a:r>
                  <a:rPr lang="ru-RU" sz="2000" dirty="0"/>
                  <a:t>f’ : X → </a:t>
                </a:r>
                <a14:m>
                  <m:oMath xmlns:m="http://schemas.openxmlformats.org/officeDocument/2006/math">
                    <m:r>
                      <m:rPr>
                        <m:sty m:val="p"/>
                      </m:rPr>
                      <a:rPr lang="en-US" sz="2000" dirty="0">
                        <a:latin typeface="Cambria Math" panose="02040503050406030204" pitchFamily="18" charset="0"/>
                        <a:ea typeface="Cambria Math" panose="02040503050406030204" pitchFamily="18" charset="0"/>
                      </a:rPr>
                      <m:t>Y</m:t>
                    </m:r>
                  </m:oMath>
                </a14:m>
                <a:r>
                  <a:rPr lang="ru-RU" sz="2000" dirty="0"/>
                  <a:t>,</a:t>
                </a:r>
                <a:endParaRPr lang="en-US" sz="2000" dirty="0"/>
              </a:p>
              <a:p>
                <a:pPr marL="0" lvl="0" indent="0" algn="ctr">
                  <a:spcBef>
                    <a:spcPts val="0"/>
                  </a:spcBef>
                  <a:buSzPts val="2800"/>
                  <a:buNone/>
                </a:pPr>
                <a:endParaRPr lang="ru-RU" sz="2000" dirty="0"/>
              </a:p>
              <a:p>
                <a:pPr marL="0" lvl="0" indent="0">
                  <a:spcBef>
                    <a:spcPts val="0"/>
                  </a:spcBef>
                  <a:buSzPts val="2800"/>
                  <a:buNone/>
                </a:pPr>
                <a:r>
                  <a:rPr lang="ru-RU" sz="2000" dirty="0"/>
                  <a:t>где X – признаковое пространство, X</a:t>
                </a:r>
                <a14:m>
                  <m:oMath xmlns:m="http://schemas.openxmlformats.org/officeDocument/2006/math">
                    <m:r>
                      <a:rPr lang="ru-RU" sz="200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ru-RU" sz="2000" i="1" smtClean="0">
                            <a:latin typeface="Cambria Math" panose="02040503050406030204" pitchFamily="18" charset="0"/>
                            <a:ea typeface="Cambria Math" panose="02040503050406030204" pitchFamily="18" charset="0"/>
                          </a:rPr>
                          <m:t>ℝ</m:t>
                        </m:r>
                      </m:e>
                      <m:sup>
                        <m:r>
                          <a:rPr lang="en-US" sz="2000" b="0" i="1" smtClean="0">
                            <a:latin typeface="Cambria Math" panose="02040503050406030204" pitchFamily="18" charset="0"/>
                            <a:ea typeface="Cambria Math" panose="02040503050406030204" pitchFamily="18" charset="0"/>
                          </a:rPr>
                          <m:t>𝑛</m:t>
                        </m:r>
                      </m:sup>
                    </m:sSup>
                    <m:r>
                      <a:rPr lang="en-US" sz="2000" b="0" i="1" smtClean="0">
                        <a:latin typeface="Cambria Math" panose="02040503050406030204" pitchFamily="18" charset="0"/>
                        <a:ea typeface="Cambria Math" panose="02040503050406030204" pitchFamily="18" charset="0"/>
                      </a:rPr>
                      <m:t>, </m:t>
                    </m:r>
                    <m:r>
                      <m:rPr>
                        <m:sty m:val="p"/>
                      </m:rPr>
                      <a:rPr lang="en-US" sz="2000" dirty="0">
                        <a:latin typeface="Cambria Math" panose="02040503050406030204" pitchFamily="18" charset="0"/>
                        <a:ea typeface="Cambria Math" panose="02040503050406030204" pitchFamily="18" charset="0"/>
                      </a:rPr>
                      <m:t>Y</m:t>
                    </m:r>
                    <m:r>
                      <a:rPr lang="ru-RU" sz="2000" i="1">
                        <a:latin typeface="Cambria Math" panose="02040503050406030204" pitchFamily="18" charset="0"/>
                        <a:ea typeface="Cambria Math" panose="02040503050406030204" pitchFamily="18" charset="0"/>
                      </a:rPr>
                      <m:t>⊂</m:t>
                    </m:r>
                    <m:r>
                      <a:rPr lang="ru-RU" sz="2000" i="1">
                        <a:latin typeface="Cambria Math" panose="02040503050406030204" pitchFamily="18" charset="0"/>
                        <a:ea typeface="Cambria Math" panose="02040503050406030204" pitchFamily="18" charset="0"/>
                      </a:rPr>
                      <m:t>ℝ</m:t>
                    </m:r>
                    <m:r>
                      <a:rPr lang="en-US" sz="2000" b="0" i="0" smtClean="0">
                        <a:latin typeface="Cambria Math" panose="02040503050406030204" pitchFamily="18" charset="0"/>
                        <a:ea typeface="Cambria Math" panose="02040503050406030204" pitchFamily="18" charset="0"/>
                      </a:rPr>
                      <m:t>.</m:t>
                    </m:r>
                  </m:oMath>
                </a14:m>
                <a:endParaRPr lang="ru-RU" sz="2000" dirty="0"/>
              </a:p>
              <a:p>
                <a:pPr marL="91440" lvl="0" indent="-177800" algn="just" rtl="0">
                  <a:lnSpc>
                    <a:spcPct val="90000"/>
                  </a:lnSpc>
                  <a:spcBef>
                    <a:spcPts val="1400"/>
                  </a:spcBef>
                  <a:spcAft>
                    <a:spcPts val="0"/>
                  </a:spcAft>
                  <a:buSzPts val="2800"/>
                  <a:buChar char=" "/>
                </a:pPr>
                <a:r>
                  <a:rPr lang="ru-RU" sz="2000" dirty="0"/>
                  <a:t>Проблема обучения регрессии заключается в построении </a:t>
                </a:r>
                <a:r>
                  <a:rPr lang="ru-RU" sz="2000" b="1" i="1" dirty="0"/>
                  <a:t>оценочной функции</a:t>
                </a:r>
                <a:r>
                  <a:rPr lang="ru-RU" sz="2000" dirty="0"/>
                  <a:t> по примерам (</a:t>
                </a:r>
                <a:r>
                  <a:rPr lang="ru-RU" sz="2000" dirty="0" err="1"/>
                  <a:t>x</a:t>
                </a:r>
                <a:r>
                  <a:rPr lang="ru-RU" sz="2000" baseline="-25000" dirty="0" err="1"/>
                  <a:t>i</a:t>
                </a:r>
                <a:r>
                  <a:rPr lang="ru-RU" sz="2000" dirty="0"/>
                  <a:t>, f(</a:t>
                </a:r>
                <a:r>
                  <a:rPr lang="ru-RU" sz="2000" dirty="0" err="1"/>
                  <a:t>x</a:t>
                </a:r>
                <a:r>
                  <a:rPr lang="ru-RU" sz="2000" baseline="-25000" dirty="0" err="1"/>
                  <a:t>i</a:t>
                </a:r>
                <a:r>
                  <a:rPr lang="ru-RU" sz="2000" dirty="0"/>
                  <a:t>)), где </a:t>
                </a:r>
                <a:r>
                  <a:rPr lang="ru-RU" sz="2000" b="1" dirty="0"/>
                  <a:t>f(x)</a:t>
                </a:r>
                <a:r>
                  <a:rPr lang="ru-RU" sz="2000" dirty="0"/>
                  <a:t> – неизвестная функция</a:t>
                </a:r>
                <a:endParaRPr sz="2000" dirty="0"/>
              </a:p>
            </p:txBody>
          </p:sp>
        </mc:Choice>
        <mc:Fallback xmlns="">
          <p:sp>
            <p:nvSpPr>
              <p:cNvPr id="209" name="Google Shape;209;p14"/>
              <p:cNvSpPr txBox="1">
                <a:spLocks noGrp="1" noRot="1" noChangeAspect="1" noMove="1" noResize="1" noEditPoints="1" noAdjustHandles="1" noChangeArrowheads="1" noChangeShapeType="1" noTextEdit="1"/>
              </p:cNvSpPr>
              <p:nvPr>
                <p:ph type="body" idx="1"/>
              </p:nvPr>
            </p:nvSpPr>
            <p:spPr>
              <a:xfrm>
                <a:off x="1097280" y="1651000"/>
                <a:ext cx="10058400" cy="4218094"/>
              </a:xfrm>
              <a:prstGeom prst="rect">
                <a:avLst/>
              </a:prstGeom>
              <a:blipFill rotWithShape="0">
                <a:blip r:embed="rId3"/>
                <a:stretch>
                  <a:fillRect l="-1515" t="-1590" r="-1515"/>
                </a:stretch>
              </a:blipFill>
              <a:ln>
                <a:noFill/>
              </a:ln>
            </p:spPr>
            <p:txBody>
              <a:bodyPr/>
              <a:lstStyle/>
              <a:p>
                <a:r>
                  <a:rPr lang="ru-RU">
                    <a:noFill/>
                  </a:rPr>
                  <a:t> </a:t>
                </a:r>
              </a:p>
            </p:txBody>
          </p:sp>
        </mc:Fallback>
      </mc:AlternateContent>
      <p:pic>
        <p:nvPicPr>
          <p:cNvPr id="210" name="Google Shape;210;p14"/>
          <p:cNvPicPr preferRelativeResize="0"/>
          <p:nvPr/>
        </p:nvPicPr>
        <p:blipFill rotWithShape="1">
          <a:blip r:embed="rId4">
            <a:alphaModFix/>
          </a:blip>
          <a:srcRect l="50370" t="-630" r="838" b="3919"/>
          <a:stretch/>
        </p:blipFill>
        <p:spPr>
          <a:xfrm>
            <a:off x="4691071" y="3803238"/>
            <a:ext cx="2870817" cy="2845145"/>
          </a:xfrm>
          <a:prstGeom prst="rect">
            <a:avLst/>
          </a:prstGeom>
          <a:noFill/>
          <a:ln>
            <a:noFill/>
          </a:ln>
        </p:spPr>
      </p:pic>
    </p:spTree>
    <p:extLst>
      <p:ext uri="{BB962C8B-B14F-4D97-AF65-F5344CB8AC3E}">
        <p14:creationId xmlns:p14="http://schemas.microsoft.com/office/powerpoint/2010/main" val="454320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Основные виды регрессии</a:t>
            </a:r>
          </a:p>
        </p:txBody>
      </p:sp>
      <p:sp>
        <p:nvSpPr>
          <p:cNvPr id="3" name="Объект 2"/>
          <p:cNvSpPr>
            <a:spLocks noGrp="1"/>
          </p:cNvSpPr>
          <p:nvPr>
            <p:ph idx="1"/>
          </p:nvPr>
        </p:nvSpPr>
        <p:spPr>
          <a:xfrm>
            <a:off x="838200" y="1825625"/>
            <a:ext cx="10515600" cy="4736042"/>
          </a:xfrm>
        </p:spPr>
        <p:txBody>
          <a:bodyPr>
            <a:normAutofit fontScale="85000" lnSpcReduction="20000"/>
          </a:bodyPr>
          <a:lstStyle/>
          <a:p>
            <a:pPr marL="0" indent="0">
              <a:buNone/>
            </a:pPr>
            <a:r>
              <a:rPr lang="ru-RU" dirty="0"/>
              <a:t>К основным методам регрессии относятся:</a:t>
            </a:r>
          </a:p>
          <a:p>
            <a:pPr algn="just"/>
            <a:r>
              <a:rPr lang="ru-RU" b="1" dirty="0"/>
              <a:t>Простая линейная регрессия</a:t>
            </a:r>
            <a:r>
              <a:rPr lang="ru-RU" dirty="0"/>
              <a:t>  – простой и интуитивно понятный метод. Он предполагает, что между признаком, предиктором X и целевой переменной Y существует линейная зависимость. Эту зависимость метод старается найти, определяя в процессе подбора параметров наилучшую прямую линию – такую, которая минимизирует разницу между </a:t>
            </a:r>
            <a:r>
              <a:rPr lang="ru-RU" b="1" dirty="0"/>
              <a:t>предсказанными</a:t>
            </a:r>
            <a:r>
              <a:rPr lang="ru-RU" dirty="0"/>
              <a:t> и </a:t>
            </a:r>
            <a:r>
              <a:rPr lang="ru-RU" b="1" dirty="0"/>
              <a:t>реальными</a:t>
            </a:r>
            <a:r>
              <a:rPr lang="ru-RU" dirty="0"/>
              <a:t> значениями</a:t>
            </a:r>
          </a:p>
          <a:p>
            <a:pPr algn="just"/>
            <a:r>
              <a:rPr lang="ru-RU" b="1" dirty="0"/>
              <a:t>Полиномиальная регрессия</a:t>
            </a:r>
            <a:r>
              <a:rPr lang="ru-RU" dirty="0"/>
              <a:t> применяется, когда зависимость между признаком и целью носит нелинейный характер (например, параболический). То есть с ее помощью можно моделировать более сложные кривые за счет добавления в уравнение степеней признака</a:t>
            </a:r>
          </a:p>
          <a:p>
            <a:pPr algn="just"/>
            <a:r>
              <a:rPr lang="ru-RU" b="1" dirty="0"/>
              <a:t>Множественная регрессия</a:t>
            </a:r>
            <a:r>
              <a:rPr lang="ru-RU" dirty="0"/>
              <a:t> используется, когда на целевую переменную влияет не один, а множество факторов. Например, цена квартиры может зависеть не только от площади, но и от числа комнат, этажа и удаленности от метро</a:t>
            </a:r>
          </a:p>
          <a:p>
            <a:endParaRPr lang="ru-RU" dirty="0"/>
          </a:p>
        </p:txBody>
      </p:sp>
    </p:spTree>
    <p:extLst>
      <p:ext uri="{BB962C8B-B14F-4D97-AF65-F5344CB8AC3E}">
        <p14:creationId xmlns:p14="http://schemas.microsoft.com/office/powerpoint/2010/main" val="4243023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a:spcAft>
                <a:spcPts val="0"/>
              </a:spcAft>
              <a:buClr>
                <a:srgbClr val="3F3F3F"/>
              </a:buClr>
              <a:buSzPts val="4800"/>
            </a:pPr>
            <a:r>
              <a:rPr lang="ru-RU" b="1" dirty="0">
                <a:effectLst>
                  <a:outerShdw blurRad="38100" dist="38100" dir="2700000" algn="tl">
                    <a:srgbClr val="000000">
                      <a:alpha val="43137"/>
                    </a:srgbClr>
                  </a:outerShdw>
                </a:effectLst>
              </a:rPr>
              <a:t>Пример задачи регрессии</a:t>
            </a:r>
            <a:endParaRPr b="1" dirty="0">
              <a:effectLst>
                <a:outerShdw blurRad="38100" dist="38100" dir="2700000" algn="tl">
                  <a:srgbClr val="000000">
                    <a:alpha val="43137"/>
                  </a:srgbClr>
                </a:outerShdw>
              </a:effectLst>
            </a:endParaRPr>
          </a:p>
        </p:txBody>
      </p:sp>
      <p:sp>
        <p:nvSpPr>
          <p:cNvPr id="216" name="Google Shape;216;p15"/>
          <p:cNvSpPr txBox="1">
            <a:spLocks noGrp="1"/>
          </p:cNvSpPr>
          <p:nvPr>
            <p:ph type="body" idx="1"/>
          </p:nvPr>
        </p:nvSpPr>
        <p:spPr>
          <a:xfrm>
            <a:off x="255373" y="1845734"/>
            <a:ext cx="11681253" cy="4023360"/>
          </a:xfrm>
          <a:prstGeom prst="rect">
            <a:avLst/>
          </a:prstGeom>
          <a:noFill/>
          <a:ln>
            <a:noFill/>
          </a:ln>
        </p:spPr>
        <p:txBody>
          <a:bodyPr spcFirstLastPara="1" wrap="square" lIns="0" tIns="45700" rIns="0" bIns="45700" anchor="t" anchorCtr="0">
            <a:normAutofit/>
          </a:bodyPr>
          <a:lstStyle/>
          <a:p>
            <a:pPr marL="91440" lvl="0" indent="-127000" algn="just" rtl="0">
              <a:lnSpc>
                <a:spcPct val="90000"/>
              </a:lnSpc>
              <a:spcBef>
                <a:spcPts val="0"/>
              </a:spcBef>
              <a:spcAft>
                <a:spcPts val="0"/>
              </a:spcAft>
              <a:buSzPts val="2000"/>
              <a:buChar char=" "/>
            </a:pPr>
            <a:r>
              <a:rPr lang="ru-RU" dirty="0" err="1"/>
              <a:t>Датасет</a:t>
            </a:r>
            <a:r>
              <a:rPr lang="ru-RU" dirty="0"/>
              <a:t> </a:t>
            </a:r>
            <a:r>
              <a:rPr lang="ru-RU" b="1" dirty="0" err="1"/>
              <a:t>Housing</a:t>
            </a:r>
            <a:r>
              <a:rPr lang="ru-RU" b="1" dirty="0"/>
              <a:t> </a:t>
            </a:r>
            <a:r>
              <a:rPr lang="ru-RU" b="1" dirty="0" err="1"/>
              <a:t>Data</a:t>
            </a:r>
            <a:r>
              <a:rPr lang="ru-RU" b="1" dirty="0"/>
              <a:t> </a:t>
            </a:r>
            <a:r>
              <a:rPr lang="ru-RU" b="1" dirty="0" err="1"/>
              <a:t>Set</a:t>
            </a:r>
            <a:r>
              <a:rPr lang="ru-RU" b="1" dirty="0"/>
              <a:t> </a:t>
            </a:r>
            <a:r>
              <a:rPr lang="ru-RU" dirty="0"/>
              <a:t>состоит из описаний условий жизни различных районов Бостона (уровень преступности, удаленность от крупнейших торговых центров, концентрация оксидов азота и т.д.). Необходимо на основе имеющихся данных построить модель, способную выдавать среднюю цену на жилье в этом районе. </a:t>
            </a:r>
            <a:endParaRPr dirty="0"/>
          </a:p>
          <a:p>
            <a:pPr marL="91440" lvl="0" indent="-127000" algn="just" rtl="0">
              <a:lnSpc>
                <a:spcPct val="90000"/>
              </a:lnSpc>
              <a:spcBef>
                <a:spcPts val="1400"/>
              </a:spcBef>
              <a:spcAft>
                <a:spcPts val="0"/>
              </a:spcAft>
              <a:buSzPts val="2000"/>
              <a:buChar char=" "/>
            </a:pPr>
            <a:r>
              <a:rPr lang="ru-RU" dirty="0"/>
              <a:t>Размерность: 506 экземпляров по 13 признаков каждый.</a:t>
            </a:r>
            <a:endParaRPr dirty="0"/>
          </a:p>
          <a:p>
            <a:pPr marL="91440" lvl="0" indent="0" algn="just" rtl="0">
              <a:lnSpc>
                <a:spcPct val="90000"/>
              </a:lnSpc>
              <a:spcBef>
                <a:spcPts val="1400"/>
              </a:spcBef>
              <a:spcAft>
                <a:spcPts val="0"/>
              </a:spcAft>
              <a:buSzPts val="2000"/>
              <a:buNone/>
            </a:pPr>
            <a:endParaRPr dirty="0"/>
          </a:p>
          <a:p>
            <a:pPr marL="91440" lvl="0" indent="0" algn="l" rtl="0">
              <a:lnSpc>
                <a:spcPct val="90000"/>
              </a:lnSpc>
              <a:spcBef>
                <a:spcPts val="1400"/>
              </a:spcBef>
              <a:spcAft>
                <a:spcPts val="0"/>
              </a:spcAft>
              <a:buSzPts val="2000"/>
              <a:buNone/>
            </a:pPr>
            <a:endParaRPr dirty="0"/>
          </a:p>
        </p:txBody>
      </p:sp>
      <p:pic>
        <p:nvPicPr>
          <p:cNvPr id="217" name="Google Shape;217;p15"/>
          <p:cNvPicPr preferRelativeResize="0"/>
          <p:nvPr/>
        </p:nvPicPr>
        <p:blipFill rotWithShape="1">
          <a:blip r:embed="rId3">
            <a:alphaModFix/>
          </a:blip>
          <a:srcRect/>
          <a:stretch/>
        </p:blipFill>
        <p:spPr>
          <a:xfrm>
            <a:off x="255373" y="4503464"/>
            <a:ext cx="7124854" cy="2230679"/>
          </a:xfrm>
          <a:prstGeom prst="rect">
            <a:avLst/>
          </a:prstGeom>
          <a:noFill/>
          <a:ln>
            <a:noFill/>
          </a:ln>
        </p:spPr>
      </p:pic>
      <p:sp>
        <p:nvSpPr>
          <p:cNvPr id="218" name="Google Shape;218;p15"/>
          <p:cNvSpPr/>
          <p:nvPr/>
        </p:nvSpPr>
        <p:spPr>
          <a:xfrm>
            <a:off x="7966231" y="5533814"/>
            <a:ext cx="4053016"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1800" b="0" i="0" u="none" strike="noStrike" cap="none" dirty="0">
                <a:solidFill>
                  <a:srgbClr val="000000"/>
                </a:solidFill>
                <a:latin typeface="Calibri"/>
                <a:ea typeface="Calibri"/>
                <a:cs typeface="Calibri"/>
                <a:sym typeface="Calibri"/>
              </a:rPr>
              <a:t>price,area,bedrooms,bathrooms,stories,mainroad,guestroom,basement,hotwaterheating,airconditioning,parking,prefarea,furnishingstatus</a:t>
            </a:r>
            <a:r>
              <a:rPr lang="ru-RU" sz="1800" b="0" i="0" u="none" strike="noStrike" cap="none"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18269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223" name="Google Shape;223;p16"/>
          <p:cNvPicPr preferRelativeResize="0"/>
          <p:nvPr/>
        </p:nvPicPr>
        <p:blipFill rotWithShape="1">
          <a:blip r:embed="rId3">
            <a:alphaModFix/>
          </a:blip>
          <a:srcRect/>
          <a:stretch/>
        </p:blipFill>
        <p:spPr>
          <a:xfrm>
            <a:off x="2383375" y="1737360"/>
            <a:ext cx="6095238" cy="4180952"/>
          </a:xfrm>
          <a:prstGeom prst="rect">
            <a:avLst/>
          </a:prstGeom>
          <a:noFill/>
          <a:ln>
            <a:noFill/>
          </a:ln>
        </p:spPr>
      </p:pic>
      <p:sp>
        <p:nvSpPr>
          <p:cNvPr id="224" name="Google Shape;224;p1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algn="ctr">
              <a:buClr>
                <a:srgbClr val="3F3F3F"/>
              </a:buClr>
              <a:buSzPts val="4800"/>
            </a:pPr>
            <a:r>
              <a:rPr lang="ru-RU" b="1" dirty="0">
                <a:effectLst>
                  <a:outerShdw blurRad="38100" dist="38100" dir="2700000" algn="tl">
                    <a:srgbClr val="000000">
                      <a:alpha val="43137"/>
                    </a:srgbClr>
                  </a:outerShdw>
                </a:effectLst>
              </a:rPr>
              <a:t>Другие примеры регрессии</a:t>
            </a:r>
            <a:endParaRPr b="1" dirty="0">
              <a:effectLst>
                <a:outerShdw blurRad="38100" dist="38100" dir="2700000" algn="tl">
                  <a:srgbClr val="000000">
                    <a:alpha val="43137"/>
                  </a:srgbClr>
                </a:outerShdw>
              </a:effectLst>
            </a:endParaRPr>
          </a:p>
        </p:txBody>
      </p:sp>
      <p:pic>
        <p:nvPicPr>
          <p:cNvPr id="225" name="Google Shape;225;p16"/>
          <p:cNvPicPr preferRelativeResize="0">
            <a:picLocks noGrp="1"/>
          </p:cNvPicPr>
          <p:nvPr>
            <p:ph type="body" idx="1"/>
          </p:nvPr>
        </p:nvPicPr>
        <p:blipFill rotWithShape="1">
          <a:blip r:embed="rId4">
            <a:alphaModFix/>
          </a:blip>
          <a:srcRect/>
          <a:stretch/>
        </p:blipFill>
        <p:spPr>
          <a:xfrm>
            <a:off x="-53389" y="2027232"/>
            <a:ext cx="4766750" cy="3221281"/>
          </a:xfrm>
          <a:prstGeom prst="rect">
            <a:avLst/>
          </a:prstGeom>
          <a:noFill/>
          <a:ln>
            <a:noFill/>
          </a:ln>
        </p:spPr>
      </p:pic>
      <p:pic>
        <p:nvPicPr>
          <p:cNvPr id="226" name="Google Shape;226;p16"/>
          <p:cNvPicPr preferRelativeResize="0"/>
          <p:nvPr/>
        </p:nvPicPr>
        <p:blipFill rotWithShape="1">
          <a:blip r:embed="rId5">
            <a:alphaModFix/>
          </a:blip>
          <a:srcRect/>
          <a:stretch/>
        </p:blipFill>
        <p:spPr>
          <a:xfrm>
            <a:off x="6446035" y="2586680"/>
            <a:ext cx="5614963" cy="3693593"/>
          </a:xfrm>
          <a:prstGeom prst="rect">
            <a:avLst/>
          </a:prstGeom>
          <a:noFill/>
          <a:ln>
            <a:noFill/>
          </a:ln>
        </p:spPr>
      </p:pic>
    </p:spTree>
    <p:extLst>
      <p:ext uri="{BB962C8B-B14F-4D97-AF65-F5344CB8AC3E}">
        <p14:creationId xmlns:p14="http://schemas.microsoft.com/office/powerpoint/2010/main" val="414237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Calibri"/>
              <a:buNone/>
            </a:pPr>
            <a:r>
              <a:rPr lang="ru-RU" b="1" dirty="0">
                <a:effectLst>
                  <a:outerShdw blurRad="38100" dist="38100" dir="2700000" algn="tl">
                    <a:srgbClr val="000000">
                      <a:alpha val="43137"/>
                    </a:srgbClr>
                  </a:outerShdw>
                </a:effectLst>
              </a:rPr>
              <a:t>Задача классификации</a:t>
            </a:r>
            <a:endParaRPr b="1"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181" name="Google Shape;181;p10"/>
              <p:cNvSpPr txBox="1">
                <a:spLocks noGrp="1"/>
              </p:cNvSpPr>
              <p:nvPr>
                <p:ph type="body" idx="1"/>
              </p:nvPr>
            </p:nvSpPr>
            <p:spPr>
              <a:xfrm>
                <a:off x="758613" y="1737360"/>
                <a:ext cx="7954663" cy="5120640"/>
              </a:xfrm>
              <a:prstGeom prst="rect">
                <a:avLst/>
              </a:prstGeom>
              <a:noFill/>
              <a:ln>
                <a:noFill/>
              </a:ln>
            </p:spPr>
            <p:txBody>
              <a:bodyPr spcFirstLastPara="1" wrap="square" lIns="0" tIns="45700" rIns="0" bIns="45700" anchor="t" anchorCtr="0">
                <a:noAutofit/>
              </a:bodyPr>
              <a:lstStyle/>
              <a:p>
                <a:pPr marL="0" lvl="0" indent="0" algn="just" rtl="0">
                  <a:lnSpc>
                    <a:spcPct val="90000"/>
                  </a:lnSpc>
                  <a:spcBef>
                    <a:spcPts val="0"/>
                  </a:spcBef>
                  <a:spcAft>
                    <a:spcPts val="0"/>
                  </a:spcAft>
                  <a:buSzPts val="2800"/>
                  <a:buNone/>
                </a:pPr>
                <a:r>
                  <a:rPr lang="en-US" b="1" dirty="0"/>
                  <a:t>	</a:t>
                </a:r>
                <a:r>
                  <a:rPr lang="ru-RU" b="1" i="1" dirty="0"/>
                  <a:t>Задача классификации</a:t>
                </a:r>
                <a:r>
                  <a:rPr lang="ru-RU" b="1" dirty="0"/>
                  <a:t> </a:t>
                </a:r>
                <a:r>
                  <a:rPr lang="ru-RU" dirty="0"/>
                  <a:t>состоит в построении классификатора, т.е. отображения </a:t>
                </a:r>
                <a:endParaRPr lang="en-US" dirty="0"/>
              </a:p>
              <a:p>
                <a:pPr marL="0" lvl="0" indent="0" algn="just" rtl="0">
                  <a:lnSpc>
                    <a:spcPct val="90000"/>
                  </a:lnSpc>
                  <a:spcBef>
                    <a:spcPts val="0"/>
                  </a:spcBef>
                  <a:spcAft>
                    <a:spcPts val="0"/>
                  </a:spcAft>
                  <a:buSzPts val="2800"/>
                  <a:buNone/>
                </a:pPr>
                <a:r>
                  <a:rPr lang="en-US" dirty="0"/>
                  <a:t>	</a:t>
                </a:r>
              </a:p>
              <a:p>
                <a:pPr marL="0" lvl="0" indent="0" algn="just" rtl="0">
                  <a:lnSpc>
                    <a:spcPct val="90000"/>
                  </a:lnSpc>
                  <a:spcBef>
                    <a:spcPts val="0"/>
                  </a:spcBef>
                  <a:spcAft>
                    <a:spcPts val="0"/>
                  </a:spcAft>
                  <a:buSzPts val="2800"/>
                  <a:buNone/>
                </a:pPr>
                <a:r>
                  <a:rPr lang="en-US" dirty="0"/>
                  <a:t>	</a:t>
                </a:r>
                <a:r>
                  <a:rPr lang="ru-RU" dirty="0"/>
                  <a:t>с’ : X → C, </a:t>
                </a:r>
                <a:endParaRPr lang="en-US" dirty="0"/>
              </a:p>
              <a:p>
                <a:pPr marL="0" lvl="0" indent="0" algn="just" rtl="0">
                  <a:lnSpc>
                    <a:spcPct val="90000"/>
                  </a:lnSpc>
                  <a:spcBef>
                    <a:spcPts val="0"/>
                  </a:spcBef>
                  <a:spcAft>
                    <a:spcPts val="0"/>
                  </a:spcAft>
                  <a:buSzPts val="2800"/>
                  <a:buNone/>
                </a:pPr>
                <a:endParaRPr lang="en-US" dirty="0"/>
              </a:p>
              <a:p>
                <a:pPr marL="0" lvl="0" indent="0" algn="just">
                  <a:spcBef>
                    <a:spcPts val="0"/>
                  </a:spcBef>
                  <a:buSzPts val="2800"/>
                  <a:buNone/>
                </a:pPr>
                <a:r>
                  <a:rPr lang="ru-RU" dirty="0"/>
                  <a:t>где</a:t>
                </a:r>
                <a:r>
                  <a:rPr lang="en-US" dirty="0"/>
                  <a:t> </a:t>
                </a:r>
                <a:r>
                  <a:rPr lang="ru-RU" dirty="0"/>
                  <a:t>X – признаковое пространство</a:t>
                </a:r>
                <a:r>
                  <a:rPr lang="en-US" dirty="0"/>
                  <a:t>, </a:t>
                </a:r>
                <a:r>
                  <a:rPr lang="ru-RU" dirty="0"/>
                  <a:t>X</a:t>
                </a:r>
                <a14:m>
                  <m:oMath xmlns:m="http://schemas.openxmlformats.org/officeDocument/2006/math">
                    <m:r>
                      <a:rPr lang="ru-RU"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ru-RU"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𝑛</m:t>
                        </m:r>
                      </m:sup>
                    </m:sSup>
                  </m:oMath>
                </a14:m>
                <a:r>
                  <a:rPr lang="en-US" dirty="0"/>
                  <a:t>,</a:t>
                </a:r>
                <a:r>
                  <a:rPr lang="ru-RU" dirty="0"/>
                  <a:t> </a:t>
                </a:r>
                <a:endParaRPr lang="en-US" dirty="0"/>
              </a:p>
              <a:p>
                <a:pPr marL="0" lvl="0" indent="0" algn="just">
                  <a:spcBef>
                    <a:spcPts val="0"/>
                  </a:spcBef>
                  <a:buSzPts val="2800"/>
                  <a:buNone/>
                </a:pPr>
                <a:r>
                  <a:rPr lang="ru-RU" dirty="0"/>
                  <a:t>C = {C</a:t>
                </a:r>
                <a:r>
                  <a:rPr lang="ru-RU" baseline="-25000" dirty="0"/>
                  <a:t>1</a:t>
                </a:r>
                <a:r>
                  <a:rPr lang="ru-RU" dirty="0"/>
                  <a:t>, C</a:t>
                </a:r>
                <a:r>
                  <a:rPr lang="ru-RU" baseline="-25000" dirty="0"/>
                  <a:t>2</a:t>
                </a:r>
                <a:r>
                  <a:rPr lang="ru-RU" dirty="0"/>
                  <a:t>, ...</a:t>
                </a:r>
                <a:r>
                  <a:rPr lang="ru-RU" dirty="0" err="1"/>
                  <a:t>C</a:t>
                </a:r>
                <a:r>
                  <a:rPr lang="ru-RU" baseline="-25000" dirty="0" err="1"/>
                  <a:t>k</a:t>
                </a:r>
                <a:r>
                  <a:rPr lang="ru-RU" dirty="0"/>
                  <a:t>} - конечное и обычно небольшое множество меток классов.</a:t>
                </a:r>
                <a:endParaRPr dirty="0"/>
              </a:p>
              <a:p>
                <a:pPr marL="0" lvl="0" indent="0" algn="just" rtl="0">
                  <a:lnSpc>
                    <a:spcPct val="90000"/>
                  </a:lnSpc>
                  <a:spcBef>
                    <a:spcPts val="1400"/>
                  </a:spcBef>
                  <a:spcAft>
                    <a:spcPts val="0"/>
                  </a:spcAft>
                  <a:buSzPts val="2800"/>
                  <a:buNone/>
                </a:pPr>
                <a:r>
                  <a:rPr lang="en-US" dirty="0"/>
                  <a:t>	</a:t>
                </a:r>
                <a:r>
                  <a:rPr lang="ru-RU" dirty="0"/>
                  <a:t>Под </a:t>
                </a:r>
                <a:r>
                  <a:rPr lang="ru-RU" b="1" i="1" dirty="0"/>
                  <a:t>обучением классификатора</a:t>
                </a:r>
                <a:r>
                  <a:rPr lang="ru-RU" dirty="0"/>
                  <a:t> будем понимать построение функции c’, которая как можно лучше </a:t>
                </a:r>
                <a:r>
                  <a:rPr lang="ru-RU" b="1" i="1" dirty="0"/>
                  <a:t>аппроксимирует</a:t>
                </a:r>
                <a:r>
                  <a:rPr lang="ru-RU" dirty="0"/>
                  <a:t> c(x) – неизвестную функцию</a:t>
                </a:r>
                <a:endParaRPr dirty="0"/>
              </a:p>
            </p:txBody>
          </p:sp>
        </mc:Choice>
        <mc:Fallback xmlns="">
          <p:sp>
            <p:nvSpPr>
              <p:cNvPr id="181" name="Google Shape;181;p10"/>
              <p:cNvSpPr txBox="1">
                <a:spLocks noGrp="1" noRot="1" noChangeAspect="1" noMove="1" noResize="1" noEditPoints="1" noAdjustHandles="1" noChangeArrowheads="1" noChangeShapeType="1" noTextEdit="1"/>
              </p:cNvSpPr>
              <p:nvPr>
                <p:ph type="body" idx="1"/>
              </p:nvPr>
            </p:nvSpPr>
            <p:spPr>
              <a:xfrm>
                <a:off x="758613" y="1737360"/>
                <a:ext cx="7954663" cy="5120640"/>
              </a:xfrm>
              <a:prstGeom prst="rect">
                <a:avLst/>
              </a:prstGeom>
              <a:blipFill rotWithShape="0">
                <a:blip r:embed="rId3"/>
                <a:stretch>
                  <a:fillRect l="-2682" t="-2024" r="-2759"/>
                </a:stretch>
              </a:blipFill>
              <a:ln>
                <a:noFill/>
              </a:ln>
            </p:spPr>
            <p:txBody>
              <a:bodyPr/>
              <a:lstStyle/>
              <a:p>
                <a:r>
                  <a:rPr lang="ru-RU">
                    <a:noFill/>
                  </a:rPr>
                  <a:t> </a:t>
                </a:r>
              </a:p>
            </p:txBody>
          </p:sp>
        </mc:Fallback>
      </mc:AlternateContent>
      <p:pic>
        <p:nvPicPr>
          <p:cNvPr id="4" name="Google Shape;210;p14"/>
          <p:cNvPicPr preferRelativeResize="0"/>
          <p:nvPr/>
        </p:nvPicPr>
        <p:blipFill rotWithShape="1">
          <a:blip r:embed="rId4">
            <a:alphaModFix/>
          </a:blip>
          <a:srcRect l="-839" t="-630" r="49918" b="3919"/>
          <a:stretch/>
        </p:blipFill>
        <p:spPr>
          <a:xfrm>
            <a:off x="8950343" y="2299201"/>
            <a:ext cx="2996124" cy="2845145"/>
          </a:xfrm>
          <a:prstGeom prst="rect">
            <a:avLst/>
          </a:prstGeom>
          <a:noFill/>
          <a:ln>
            <a:noFill/>
          </a:ln>
        </p:spPr>
      </p:pic>
    </p:spTree>
    <p:extLst>
      <p:ext uri="{BB962C8B-B14F-4D97-AF65-F5344CB8AC3E}">
        <p14:creationId xmlns:p14="http://schemas.microsoft.com/office/powerpoint/2010/main" val="1645492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algn="ctr">
              <a:lnSpc>
                <a:spcPct val="85000"/>
              </a:lnSpc>
              <a:spcBef>
                <a:spcPts val="0"/>
              </a:spcBef>
              <a:buClr>
                <a:srgbClr val="3F3F3F"/>
              </a:buClr>
              <a:buSzPts val="4800"/>
            </a:pPr>
            <a:r>
              <a:rPr lang="ru-RU" b="1" dirty="0">
                <a:effectLst>
                  <a:outerShdw blurRad="38100" dist="38100" dir="2700000" algn="tl">
                    <a:srgbClr val="000000">
                      <a:alpha val="43137"/>
                    </a:srgbClr>
                  </a:outerShdw>
                </a:effectLst>
              </a:rPr>
              <a:t>Бинарная классификация</a:t>
            </a:r>
            <a:endParaRPr b="1" dirty="0">
              <a:effectLst>
                <a:outerShdw blurRad="38100" dist="38100" dir="2700000" algn="tl">
                  <a:srgbClr val="000000">
                    <a:alpha val="43137"/>
                  </a:srgbClr>
                </a:outerShdw>
              </a:effectLst>
            </a:endParaRPr>
          </a:p>
        </p:txBody>
      </p:sp>
      <p:pic>
        <p:nvPicPr>
          <p:cNvPr id="3" name="Рисунок 2"/>
          <p:cNvPicPr>
            <a:picLocks noChangeAspect="1"/>
          </p:cNvPicPr>
          <p:nvPr/>
        </p:nvPicPr>
        <p:blipFill>
          <a:blip r:embed="rId3"/>
          <a:stretch>
            <a:fillRect/>
          </a:stretch>
        </p:blipFill>
        <p:spPr>
          <a:xfrm>
            <a:off x="2667931" y="1981201"/>
            <a:ext cx="6917098" cy="4466841"/>
          </a:xfrm>
          <a:prstGeom prst="rect">
            <a:avLst/>
          </a:prstGeom>
        </p:spPr>
      </p:pic>
    </p:spTree>
    <p:extLst>
      <p:ext uri="{BB962C8B-B14F-4D97-AF65-F5344CB8AC3E}">
        <p14:creationId xmlns:p14="http://schemas.microsoft.com/office/powerpoint/2010/main" val="666623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2"/>
          <p:cNvSpPr txBox="1">
            <a:spLocks noGrp="1"/>
          </p:cNvSpPr>
          <p:nvPr>
            <p:ph type="title"/>
          </p:nvPr>
        </p:nvSpPr>
        <p:spPr>
          <a:xfrm>
            <a:off x="595900" y="603125"/>
            <a:ext cx="11596200" cy="1099200"/>
          </a:xfrm>
          <a:prstGeom prst="rect">
            <a:avLst/>
          </a:prstGeom>
          <a:noFill/>
          <a:ln>
            <a:noFill/>
          </a:ln>
        </p:spPr>
        <p:txBody>
          <a:bodyPr spcFirstLastPara="1" wrap="square" lIns="91425" tIns="45700" rIns="91425" bIns="45700" anchor="b" anchorCtr="0">
            <a:noAutofit/>
          </a:bodyPr>
          <a:lstStyle/>
          <a:p>
            <a:pPr algn="ctr">
              <a:buClr>
                <a:srgbClr val="3F3F3F"/>
              </a:buClr>
              <a:buSzPts val="4800"/>
            </a:pPr>
            <a:r>
              <a:rPr lang="ru-RU" b="1" dirty="0">
                <a:effectLst>
                  <a:outerShdw blurRad="38100" dist="38100" dir="2700000" algn="tl">
                    <a:srgbClr val="000000">
                      <a:alpha val="43137"/>
                    </a:srgbClr>
                  </a:outerShdw>
                </a:effectLst>
              </a:rPr>
              <a:t>Пример задачи</a:t>
            </a:r>
            <a:endParaRPr b="1" dirty="0">
              <a:effectLst>
                <a:outerShdw blurRad="38100" dist="38100" dir="2700000" algn="tl">
                  <a:srgbClr val="000000">
                    <a:alpha val="43137"/>
                  </a:srgbClr>
                </a:outerShdw>
              </a:effectLst>
            </a:endParaRPr>
          </a:p>
          <a:p>
            <a:pPr algn="ctr">
              <a:buClr>
                <a:srgbClr val="3F3F3F"/>
              </a:buClr>
              <a:buSzPts val="4800"/>
            </a:pPr>
            <a:r>
              <a:rPr lang="ru-RU" b="1" dirty="0" err="1">
                <a:effectLst>
                  <a:outerShdw blurRad="38100" dist="38100" dir="2700000" algn="tl">
                    <a:srgbClr val="000000">
                      <a:alpha val="43137"/>
                    </a:srgbClr>
                  </a:outerShdw>
                </a:effectLst>
              </a:rPr>
              <a:t>мультиклассовой</a:t>
            </a:r>
            <a:r>
              <a:rPr lang="ru-RU" b="1" dirty="0">
                <a:effectLst>
                  <a:outerShdw blurRad="38100" dist="38100" dir="2700000" algn="tl">
                    <a:srgbClr val="000000">
                      <a:alpha val="43137"/>
                    </a:srgbClr>
                  </a:outerShdw>
                </a:effectLst>
              </a:rPr>
              <a:t> классификации</a:t>
            </a:r>
            <a:endParaRPr b="1" dirty="0">
              <a:effectLst>
                <a:outerShdw blurRad="38100" dist="38100" dir="2700000" algn="tl">
                  <a:srgbClr val="000000">
                    <a:alpha val="43137"/>
                  </a:srgbClr>
                </a:outerShdw>
              </a:effectLst>
            </a:endParaRPr>
          </a:p>
        </p:txBody>
      </p:sp>
      <p:sp>
        <p:nvSpPr>
          <p:cNvPr id="194" name="Google Shape;194;p12"/>
          <p:cNvSpPr txBox="1">
            <a:spLocks noGrp="1"/>
          </p:cNvSpPr>
          <p:nvPr>
            <p:ph type="body" idx="1"/>
          </p:nvPr>
        </p:nvSpPr>
        <p:spPr>
          <a:xfrm>
            <a:off x="258806" y="2125134"/>
            <a:ext cx="5750010" cy="3992834"/>
          </a:xfrm>
          <a:prstGeom prst="rect">
            <a:avLst/>
          </a:prstGeom>
          <a:noFill/>
          <a:ln>
            <a:noFill/>
          </a:ln>
        </p:spPr>
        <p:txBody>
          <a:bodyPr spcFirstLastPara="1" wrap="square" lIns="0" tIns="45700" rIns="0" bIns="45700" anchor="t" anchorCtr="0">
            <a:normAutofit/>
          </a:bodyPr>
          <a:lstStyle/>
          <a:p>
            <a:pPr marL="0" lvl="0" indent="0" algn="just" rtl="0">
              <a:lnSpc>
                <a:spcPct val="90000"/>
              </a:lnSpc>
              <a:spcBef>
                <a:spcPts val="0"/>
              </a:spcBef>
              <a:spcAft>
                <a:spcPts val="0"/>
              </a:spcAft>
              <a:buSzPct val="100000"/>
              <a:buNone/>
            </a:pPr>
            <a:r>
              <a:rPr lang="ru-RU" sz="2200" dirty="0"/>
              <a:t>Часто задача классификации представляет собой т.н. </a:t>
            </a:r>
            <a:r>
              <a:rPr lang="ru-RU" sz="2200" dirty="0" err="1"/>
              <a:t>мультиклассовый</a:t>
            </a:r>
            <a:r>
              <a:rPr lang="ru-RU" sz="2200" dirty="0"/>
              <a:t> случай.</a:t>
            </a:r>
            <a:endParaRPr dirty="0"/>
          </a:p>
          <a:p>
            <a:pPr marL="0" lvl="0" indent="0" algn="just" rtl="0">
              <a:lnSpc>
                <a:spcPct val="90000"/>
              </a:lnSpc>
              <a:spcBef>
                <a:spcPts val="1400"/>
              </a:spcBef>
              <a:spcAft>
                <a:spcPts val="0"/>
              </a:spcAft>
              <a:buSzPct val="100000"/>
              <a:buNone/>
            </a:pPr>
            <a:r>
              <a:rPr lang="ru-RU" sz="2200" dirty="0" err="1"/>
              <a:t>Мультиклассовость</a:t>
            </a:r>
            <a:r>
              <a:rPr lang="ru-RU" sz="2200" dirty="0"/>
              <a:t> предполагает наличие более 2-х классов, которым могут принадлежать распознаваемые образы.</a:t>
            </a:r>
            <a:endParaRPr dirty="0"/>
          </a:p>
          <a:p>
            <a:pPr marL="0" lvl="0" indent="0" algn="just" rtl="0">
              <a:lnSpc>
                <a:spcPct val="90000"/>
              </a:lnSpc>
              <a:spcBef>
                <a:spcPts val="1400"/>
              </a:spcBef>
              <a:spcAft>
                <a:spcPts val="0"/>
              </a:spcAft>
              <a:buSzPct val="100000"/>
              <a:buNone/>
            </a:pPr>
            <a:r>
              <a:rPr lang="ru-RU" sz="2200" b="1" dirty="0"/>
              <a:t>Выборка Ирисов Фишера </a:t>
            </a:r>
            <a:r>
              <a:rPr lang="ru-RU" sz="2200" dirty="0"/>
              <a:t>содержит 150 записей, описывающих ирисы </a:t>
            </a:r>
            <a:r>
              <a:rPr lang="ru-RU" sz="2200" b="1" dirty="0"/>
              <a:t>трех</a:t>
            </a:r>
            <a:r>
              <a:rPr lang="ru-RU" sz="2200" dirty="0"/>
              <a:t> разных видов.</a:t>
            </a:r>
            <a:endParaRPr dirty="0"/>
          </a:p>
          <a:p>
            <a:pPr marL="91440" lvl="0" indent="0" algn="l" rtl="0">
              <a:lnSpc>
                <a:spcPct val="90000"/>
              </a:lnSpc>
              <a:spcBef>
                <a:spcPts val="1400"/>
              </a:spcBef>
              <a:spcAft>
                <a:spcPts val="0"/>
              </a:spcAft>
              <a:buSzPct val="100000"/>
              <a:buNone/>
            </a:pPr>
            <a:endParaRPr dirty="0"/>
          </a:p>
        </p:txBody>
      </p:sp>
      <p:pic>
        <p:nvPicPr>
          <p:cNvPr id="195" name="Google Shape;195;p12"/>
          <p:cNvPicPr preferRelativeResize="0"/>
          <p:nvPr/>
        </p:nvPicPr>
        <p:blipFill rotWithShape="1">
          <a:blip r:embed="rId3">
            <a:alphaModFix/>
          </a:blip>
          <a:srcRect/>
          <a:stretch/>
        </p:blipFill>
        <p:spPr>
          <a:xfrm>
            <a:off x="6253206" y="2125134"/>
            <a:ext cx="5676327" cy="3886199"/>
          </a:xfrm>
          <a:prstGeom prst="rect">
            <a:avLst/>
          </a:prstGeom>
          <a:noFill/>
          <a:ln>
            <a:noFill/>
          </a:ln>
        </p:spPr>
      </p:pic>
    </p:spTree>
    <p:extLst>
      <p:ext uri="{BB962C8B-B14F-4D97-AF65-F5344CB8AC3E}">
        <p14:creationId xmlns:p14="http://schemas.microsoft.com/office/powerpoint/2010/main" val="1705651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3"/>
          <p:cNvSpPr txBox="1">
            <a:spLocks noGrp="1"/>
          </p:cNvSpPr>
          <p:nvPr>
            <p:ph type="title"/>
          </p:nvPr>
        </p:nvSpPr>
        <p:spPr>
          <a:xfrm>
            <a:off x="1209825" y="286600"/>
            <a:ext cx="10982100" cy="1450800"/>
          </a:xfrm>
          <a:prstGeom prst="rect">
            <a:avLst/>
          </a:prstGeom>
          <a:noFill/>
          <a:ln>
            <a:noFill/>
          </a:ln>
        </p:spPr>
        <p:txBody>
          <a:bodyPr spcFirstLastPara="1" wrap="square" lIns="91425" tIns="45700" rIns="91425" bIns="45700" anchor="b" anchorCtr="0">
            <a:normAutofit/>
          </a:bodyPr>
          <a:lstStyle/>
          <a:p>
            <a:pPr marL="0" lvl="0" indent="0" algn="ctr">
              <a:spcAft>
                <a:spcPts val="0"/>
              </a:spcAft>
              <a:buClr>
                <a:srgbClr val="3F3F3F"/>
              </a:buClr>
              <a:buSzPts val="4800"/>
            </a:pPr>
            <a:r>
              <a:rPr lang="ru-RU" b="1" dirty="0">
                <a:effectLst>
                  <a:outerShdw blurRad="38100" dist="38100" dir="2700000" algn="tl">
                    <a:srgbClr val="000000">
                      <a:alpha val="43137"/>
                    </a:srgbClr>
                  </a:outerShdw>
                </a:effectLst>
              </a:rPr>
              <a:t>Пример задачи </a:t>
            </a:r>
            <a:endParaRPr b="1" dirty="0">
              <a:effectLst>
                <a:outerShdw blurRad="38100" dist="38100" dir="2700000" algn="tl">
                  <a:srgbClr val="000000">
                    <a:alpha val="43137"/>
                  </a:srgbClr>
                </a:outerShdw>
              </a:effectLst>
            </a:endParaRPr>
          </a:p>
          <a:p>
            <a:pPr marL="0" lvl="0" indent="0" algn="ctr">
              <a:spcAft>
                <a:spcPts val="0"/>
              </a:spcAft>
              <a:buClr>
                <a:srgbClr val="3F3F3F"/>
              </a:buClr>
              <a:buSzPts val="4800"/>
            </a:pPr>
            <a:r>
              <a:rPr lang="ru-RU" b="1" dirty="0" err="1">
                <a:effectLst>
                  <a:outerShdw blurRad="38100" dist="38100" dir="2700000" algn="tl">
                    <a:srgbClr val="000000">
                      <a:alpha val="43137"/>
                    </a:srgbClr>
                  </a:outerShdw>
                </a:effectLst>
              </a:rPr>
              <a:t>мультиклассовой</a:t>
            </a:r>
            <a:r>
              <a:rPr lang="ru-RU" b="1" dirty="0">
                <a:effectLst>
                  <a:outerShdw blurRad="38100" dist="38100" dir="2700000" algn="tl">
                    <a:srgbClr val="000000">
                      <a:alpha val="43137"/>
                    </a:srgbClr>
                  </a:outerShdw>
                </a:effectLst>
              </a:rPr>
              <a:t> классификации</a:t>
            </a:r>
            <a:endParaRPr b="1" dirty="0">
              <a:effectLst>
                <a:outerShdw blurRad="38100" dist="38100" dir="2700000" algn="tl">
                  <a:srgbClr val="000000">
                    <a:alpha val="43137"/>
                  </a:srgbClr>
                </a:outerShdw>
              </a:effectLst>
            </a:endParaRPr>
          </a:p>
        </p:txBody>
      </p:sp>
      <p:sp>
        <p:nvSpPr>
          <p:cNvPr id="202" name="Google Shape;202;p13"/>
          <p:cNvSpPr txBox="1">
            <a:spLocks noGrp="1"/>
          </p:cNvSpPr>
          <p:nvPr>
            <p:ph type="body" idx="1"/>
          </p:nvPr>
        </p:nvSpPr>
        <p:spPr>
          <a:xfrm>
            <a:off x="1097280" y="1852690"/>
            <a:ext cx="5261575" cy="4131734"/>
          </a:xfrm>
          <a:prstGeom prst="rect">
            <a:avLst/>
          </a:prstGeom>
          <a:noFill/>
          <a:ln>
            <a:noFill/>
          </a:ln>
        </p:spPr>
        <p:txBody>
          <a:bodyPr spcFirstLastPara="1" wrap="square" lIns="0" tIns="45700" rIns="0" bIns="45700" anchor="t" anchorCtr="0">
            <a:normAutofit/>
          </a:bodyPr>
          <a:lstStyle/>
          <a:p>
            <a:pPr marL="91440" lvl="0" indent="-177800" algn="just" rtl="0">
              <a:lnSpc>
                <a:spcPct val="90000"/>
              </a:lnSpc>
              <a:spcBef>
                <a:spcPts val="0"/>
              </a:spcBef>
              <a:spcAft>
                <a:spcPts val="0"/>
              </a:spcAft>
              <a:buSzPts val="2800"/>
              <a:buChar char=" "/>
            </a:pPr>
            <a:r>
              <a:rPr lang="ru-RU" sz="2800" dirty="0"/>
              <a:t>Еще один пример </a:t>
            </a:r>
            <a:r>
              <a:rPr lang="ru-RU" sz="2800" dirty="0" err="1"/>
              <a:t>мультиклассовой</a:t>
            </a:r>
            <a:r>
              <a:rPr lang="ru-RU" sz="2800" dirty="0"/>
              <a:t> выборки – MNIST (выборка рукописных цифр). Она содержит 70.000 образов (формат 28Х28 пикселей), принадлежащих 10 классам (0-9). Традиционно 60.000 используются для обучения, 10.000 – для тестирования</a:t>
            </a:r>
            <a:endParaRPr dirty="0"/>
          </a:p>
          <a:p>
            <a:pPr marL="91440" lvl="0" indent="0" algn="l" rtl="0">
              <a:lnSpc>
                <a:spcPct val="90000"/>
              </a:lnSpc>
              <a:spcBef>
                <a:spcPts val="1400"/>
              </a:spcBef>
              <a:spcAft>
                <a:spcPts val="0"/>
              </a:spcAft>
              <a:buSzPts val="2000"/>
              <a:buNone/>
            </a:pPr>
            <a:endParaRPr dirty="0"/>
          </a:p>
        </p:txBody>
      </p:sp>
      <p:pic>
        <p:nvPicPr>
          <p:cNvPr id="203" name="Google Shape;203;p13"/>
          <p:cNvPicPr preferRelativeResize="0"/>
          <p:nvPr/>
        </p:nvPicPr>
        <p:blipFill rotWithShape="1">
          <a:blip r:embed="rId3">
            <a:alphaModFix/>
          </a:blip>
          <a:srcRect/>
          <a:stretch/>
        </p:blipFill>
        <p:spPr>
          <a:xfrm>
            <a:off x="6850565" y="1920496"/>
            <a:ext cx="4800600" cy="3629025"/>
          </a:xfrm>
          <a:prstGeom prst="rect">
            <a:avLst/>
          </a:prstGeom>
          <a:noFill/>
          <a:ln>
            <a:noFill/>
          </a:ln>
        </p:spPr>
      </p:pic>
    </p:spTree>
    <p:extLst>
      <p:ext uri="{BB962C8B-B14F-4D97-AF65-F5344CB8AC3E}">
        <p14:creationId xmlns:p14="http://schemas.microsoft.com/office/powerpoint/2010/main" val="4267914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Кластеризация</a:t>
            </a:r>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703" y="3534146"/>
            <a:ext cx="5715000" cy="3105150"/>
          </a:xfrm>
        </p:spPr>
      </p:pic>
      <p:sp>
        <p:nvSpPr>
          <p:cNvPr id="6" name="Google Shape;202;p13"/>
          <p:cNvSpPr txBox="1">
            <a:spLocks/>
          </p:cNvSpPr>
          <p:nvPr/>
        </p:nvSpPr>
        <p:spPr>
          <a:xfrm>
            <a:off x="987214" y="1581756"/>
            <a:ext cx="10578253" cy="4675111"/>
          </a:xfrm>
          <a:prstGeom prst="rect">
            <a:avLst/>
          </a:prstGeom>
          <a:noFill/>
          <a:ln>
            <a:noFill/>
          </a:ln>
        </p:spPr>
        <p:txBody>
          <a:bodyPr spcFirstLastPara="1" vert="horz" wrap="square" lIns="0" tIns="45700" rIns="0"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ru-RU" dirty="0">
                <a:solidFill>
                  <a:srgbClr val="181818"/>
                </a:solidFill>
                <a:latin typeface="HeliosExtC"/>
              </a:rPr>
              <a:t>Кластеризация – это разбиение множества объектов на подмножества (кластеры) по заданному критерию</a:t>
            </a:r>
            <a:endParaRPr lang="ru-RU" dirty="0"/>
          </a:p>
        </p:txBody>
      </p:sp>
      <p:pic>
        <p:nvPicPr>
          <p:cNvPr id="7" name="Рисунок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0210" y="3762102"/>
            <a:ext cx="6351790" cy="2973461"/>
          </a:xfrm>
          <a:prstGeom prst="rect">
            <a:avLst/>
          </a:prstGeom>
        </p:spPr>
      </p:pic>
    </p:spTree>
    <p:extLst>
      <p:ext uri="{BB962C8B-B14F-4D97-AF65-F5344CB8AC3E}">
        <p14:creationId xmlns:p14="http://schemas.microsoft.com/office/powerpoint/2010/main" val="4019160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Ассоциация</a:t>
            </a:r>
          </a:p>
        </p:txBody>
      </p:sp>
      <p:sp>
        <p:nvSpPr>
          <p:cNvPr id="3" name="Объект 2"/>
          <p:cNvSpPr>
            <a:spLocks noGrp="1"/>
          </p:cNvSpPr>
          <p:nvPr>
            <p:ph idx="1"/>
          </p:nvPr>
        </p:nvSpPr>
        <p:spPr>
          <a:xfrm>
            <a:off x="7772400" y="1825625"/>
            <a:ext cx="3581400" cy="4351338"/>
          </a:xfrm>
        </p:spPr>
        <p:txBody>
          <a:bodyPr>
            <a:normAutofit/>
          </a:bodyPr>
          <a:lstStyle/>
          <a:p>
            <a:pPr marL="0" indent="0">
              <a:buNone/>
            </a:pPr>
            <a:r>
              <a:rPr lang="ru-RU" dirty="0"/>
              <a:t>Правило ассоциации (ассоциация) – это метод определения взаимосвязи элементов друг с другом. Например, дополняющие друг друга покупки в гипермаркете.</a:t>
            </a:r>
          </a:p>
        </p:txBody>
      </p:sp>
      <p:pic>
        <p:nvPicPr>
          <p:cNvPr id="6" name="Рисунок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1" y="1910292"/>
            <a:ext cx="5833533" cy="3413237"/>
          </a:xfrm>
          <a:prstGeom prst="rect">
            <a:avLst/>
          </a:prstGeom>
        </p:spPr>
      </p:pic>
    </p:spTree>
    <p:extLst>
      <p:ext uri="{BB962C8B-B14F-4D97-AF65-F5344CB8AC3E}">
        <p14:creationId xmlns:p14="http://schemas.microsoft.com/office/powerpoint/2010/main" val="2959495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Снижение размерности</a:t>
            </a:r>
          </a:p>
        </p:txBody>
      </p:sp>
      <p:sp>
        <p:nvSpPr>
          <p:cNvPr id="3" name="Объект 2"/>
          <p:cNvSpPr>
            <a:spLocks noGrp="1"/>
          </p:cNvSpPr>
          <p:nvPr>
            <p:ph idx="1"/>
          </p:nvPr>
        </p:nvSpPr>
        <p:spPr>
          <a:xfrm>
            <a:off x="838200" y="1388532"/>
            <a:ext cx="11192933" cy="2565401"/>
          </a:xfrm>
        </p:spPr>
        <p:txBody>
          <a:bodyPr>
            <a:normAutofit fontScale="92500" lnSpcReduction="20000"/>
          </a:bodyPr>
          <a:lstStyle/>
          <a:p>
            <a:pPr marL="0" indent="0" algn="just">
              <a:buNone/>
            </a:pPr>
            <a:r>
              <a:rPr lang="ru-RU" dirty="0"/>
              <a:t>В машинном обучении измерения (или признаки) являются </a:t>
            </a:r>
            <a:r>
              <a:rPr lang="ru-RU" dirty="0" err="1"/>
              <a:t>предикторными</a:t>
            </a:r>
            <a:r>
              <a:rPr lang="ru-RU" dirty="0"/>
              <a:t> переменными, определяющими выходные данные модели. Их также можно назвать входными переменными. Многомерные наборы данных создают ряд практических проблем для алгоритмов машинного обучения, таких как увеличение времени вычислений, увеличение объёма хранилища больших данных и т. д.</a:t>
            </a:r>
            <a:endParaRPr lang="en-US" dirty="0"/>
          </a:p>
          <a:p>
            <a:pPr marL="0" indent="0" algn="just">
              <a:buNone/>
            </a:pPr>
            <a:r>
              <a:rPr lang="ru-RU" dirty="0"/>
              <a:t>Методы снижения размерности обычно сводят модели к пространству </a:t>
            </a:r>
            <a:r>
              <a:rPr lang="ru-RU" b="1" dirty="0"/>
              <a:t>меньшей размерности</a:t>
            </a:r>
            <a:r>
              <a:rPr lang="ru-RU" dirty="0"/>
              <a:t>, извлекая или объединяя их характеристики. </a:t>
            </a:r>
          </a:p>
        </p:txBody>
      </p:sp>
      <p:pic>
        <p:nvPicPr>
          <p:cNvPr id="4" name="Рисунок 3"/>
          <p:cNvPicPr>
            <a:picLocks noChangeAspect="1"/>
          </p:cNvPicPr>
          <p:nvPr/>
        </p:nvPicPr>
        <p:blipFill rotWithShape="1">
          <a:blip r:embed="rId2">
            <a:extLst>
              <a:ext uri="{28A0092B-C50C-407E-A947-70E740481C1C}">
                <a14:useLocalDpi xmlns:a14="http://schemas.microsoft.com/office/drawing/2010/main" val="0"/>
              </a:ext>
            </a:extLst>
          </a:blip>
          <a:srcRect l="366" t="37572" r="-366" b="8756"/>
          <a:stretch/>
        </p:blipFill>
        <p:spPr>
          <a:xfrm>
            <a:off x="1369582" y="4013200"/>
            <a:ext cx="9452835" cy="2539999"/>
          </a:xfrm>
          <a:prstGeom prst="rect">
            <a:avLst/>
          </a:prstGeom>
        </p:spPr>
      </p:pic>
    </p:spTree>
    <p:extLst>
      <p:ext uri="{BB962C8B-B14F-4D97-AF65-F5344CB8AC3E}">
        <p14:creationId xmlns:p14="http://schemas.microsoft.com/office/powerpoint/2010/main" val="2502958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Типы машинного обучения</a:t>
            </a:r>
          </a:p>
        </p:txBody>
      </p:sp>
      <p:sp>
        <p:nvSpPr>
          <p:cNvPr id="3" name="Объект 2"/>
          <p:cNvSpPr>
            <a:spLocks noGrp="1"/>
          </p:cNvSpPr>
          <p:nvPr>
            <p:ph idx="1"/>
          </p:nvPr>
        </p:nvSpPr>
        <p:spPr>
          <a:xfrm>
            <a:off x="838200" y="1825625"/>
            <a:ext cx="5621867" cy="4351338"/>
          </a:xfrm>
        </p:spPr>
        <p:txBody>
          <a:bodyPr/>
          <a:lstStyle/>
          <a:p>
            <a:r>
              <a:rPr lang="ru-RU" dirty="0"/>
              <a:t>Контролируемое обучение (</a:t>
            </a:r>
            <a:r>
              <a:rPr lang="ru-RU" dirty="0" err="1"/>
              <a:t>Supervised</a:t>
            </a:r>
            <a:r>
              <a:rPr lang="ru-RU" dirty="0"/>
              <a:t> </a:t>
            </a:r>
            <a:r>
              <a:rPr lang="ru-RU" dirty="0" err="1"/>
              <a:t>Learning</a:t>
            </a:r>
            <a:r>
              <a:rPr lang="ru-RU" dirty="0"/>
              <a:t>)</a:t>
            </a:r>
          </a:p>
          <a:p>
            <a:r>
              <a:rPr lang="ru-RU" dirty="0"/>
              <a:t>Неконтролируемое обучение (</a:t>
            </a:r>
            <a:r>
              <a:rPr lang="ru-RU" dirty="0" err="1"/>
              <a:t>Unsupervised</a:t>
            </a:r>
            <a:r>
              <a:rPr lang="ru-RU" dirty="0"/>
              <a:t> </a:t>
            </a:r>
            <a:r>
              <a:rPr lang="ru-RU" dirty="0" err="1"/>
              <a:t>Learning</a:t>
            </a:r>
            <a:r>
              <a:rPr lang="ru-RU" dirty="0"/>
              <a:t>)</a:t>
            </a:r>
          </a:p>
          <a:p>
            <a:r>
              <a:rPr lang="ru-RU" dirty="0"/>
              <a:t>Обучение с подкреплением (</a:t>
            </a:r>
            <a:r>
              <a:rPr lang="ru-RU" dirty="0" err="1"/>
              <a:t>Reinforcement</a:t>
            </a:r>
            <a:r>
              <a:rPr lang="ru-RU" dirty="0"/>
              <a:t> </a:t>
            </a:r>
            <a:r>
              <a:rPr lang="ru-RU" dirty="0" err="1"/>
              <a:t>Learning</a:t>
            </a:r>
            <a:r>
              <a:rPr lang="ru-RU" dirty="0"/>
              <a:t>)</a:t>
            </a:r>
            <a:endParaRPr lang="en-US" dirty="0"/>
          </a:p>
          <a:p>
            <a:endParaRPr lang="en-US" dirty="0"/>
          </a:p>
          <a:p>
            <a:pPr marL="0" indent="0">
              <a:buNone/>
            </a:pPr>
            <a:endParaRPr lang="ru-RU" dirty="0"/>
          </a:p>
        </p:txBody>
      </p:sp>
      <p:sp>
        <p:nvSpPr>
          <p:cNvPr id="4" name="Прямоугольник 3"/>
          <p:cNvSpPr/>
          <p:nvPr/>
        </p:nvSpPr>
        <p:spPr>
          <a:xfrm>
            <a:off x="0" y="-4207"/>
            <a:ext cx="3309945" cy="369332"/>
          </a:xfrm>
          <a:prstGeom prst="rect">
            <a:avLst/>
          </a:prstGeom>
        </p:spPr>
        <p:txBody>
          <a:bodyPr wrap="none">
            <a:spAutoFit/>
          </a:bodyPr>
          <a:lstStyle/>
          <a:p>
            <a:r>
              <a:rPr lang="ru-RU" b="1" dirty="0"/>
              <a:t>3</a:t>
            </a:r>
            <a:r>
              <a:rPr lang="en-US" b="1" dirty="0"/>
              <a:t>/4 </a:t>
            </a:r>
            <a:r>
              <a:rPr lang="ru-RU" b="1" dirty="0"/>
              <a:t>Типы машинного обучения</a:t>
            </a:r>
          </a:p>
        </p:txBody>
      </p:sp>
      <p:pic>
        <p:nvPicPr>
          <p:cNvPr id="6" name="Рисунок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60067" y="1825625"/>
            <a:ext cx="5206702" cy="4029429"/>
          </a:xfrm>
          <a:prstGeom prst="rect">
            <a:avLst/>
          </a:prstGeom>
        </p:spPr>
      </p:pic>
    </p:spTree>
    <p:extLst>
      <p:ext uri="{BB962C8B-B14F-4D97-AF65-F5344CB8AC3E}">
        <p14:creationId xmlns:p14="http://schemas.microsoft.com/office/powerpoint/2010/main" val="46186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r>
              <a:rPr lang="ru-RU" b="1" dirty="0">
                <a:effectLst>
                  <a:outerShdw blurRad="38100" dist="38100" dir="2700000" algn="tl">
                    <a:srgbClr val="000000">
                      <a:alpha val="43137"/>
                    </a:srgbClr>
                  </a:outerShdw>
                </a:effectLst>
              </a:rPr>
              <a:t>Контролируемое обучение</a:t>
            </a:r>
          </a:p>
        </p:txBody>
      </p:sp>
      <p:sp>
        <p:nvSpPr>
          <p:cNvPr id="3" name="Объект 2"/>
          <p:cNvSpPr>
            <a:spLocks noGrp="1"/>
          </p:cNvSpPr>
          <p:nvPr>
            <p:ph idx="1"/>
          </p:nvPr>
        </p:nvSpPr>
        <p:spPr>
          <a:xfrm>
            <a:off x="609600" y="1563157"/>
            <a:ext cx="5596467" cy="4854575"/>
          </a:xfrm>
        </p:spPr>
        <p:txBody>
          <a:bodyPr>
            <a:noAutofit/>
          </a:bodyPr>
          <a:lstStyle/>
          <a:p>
            <a:pPr marL="0" indent="0">
              <a:buNone/>
            </a:pPr>
            <a:r>
              <a:rPr lang="ru-RU" b="1" i="1" dirty="0"/>
              <a:t>Контролируемое обучение </a:t>
            </a:r>
            <a:r>
              <a:rPr lang="en-US" dirty="0"/>
              <a:t>–</a:t>
            </a:r>
            <a:r>
              <a:rPr lang="ru-RU" dirty="0"/>
              <a:t> это тип машинного обучения, использующий </a:t>
            </a:r>
            <a:r>
              <a:rPr lang="ru-RU" b="1" i="1" dirty="0"/>
              <a:t>размеченные наборы данных </a:t>
            </a:r>
            <a:r>
              <a:rPr lang="ru-RU" dirty="0"/>
              <a:t>для обучения моделей искусственного интеллекта (ИИ) с целью выявления базовых закономерностей и взаимосвязей </a:t>
            </a:r>
          </a:p>
          <a:p>
            <a:pPr marL="0" indent="0">
              <a:buNone/>
            </a:pPr>
            <a:r>
              <a:rPr lang="ru-RU" dirty="0"/>
              <a:t>Цель процесса обучения – создание модели, способной прогнозировать правильные результаты на основе новых данных реального мира</a:t>
            </a:r>
          </a:p>
        </p:txBody>
      </p:sp>
      <p:pic>
        <p:nvPicPr>
          <p:cNvPr id="4" name="Рисунок 3"/>
          <p:cNvPicPr>
            <a:picLocks noChangeAspect="1"/>
          </p:cNvPicPr>
          <p:nvPr/>
        </p:nvPicPr>
        <p:blipFill rotWithShape="1">
          <a:blip r:embed="rId2">
            <a:extLst>
              <a:ext uri="{28A0092B-C50C-407E-A947-70E740481C1C}">
                <a14:useLocalDpi xmlns:a14="http://schemas.microsoft.com/office/drawing/2010/main" val="0"/>
              </a:ext>
            </a:extLst>
          </a:blip>
          <a:srcRect r="13706" b="39343"/>
          <a:stretch/>
        </p:blipFill>
        <p:spPr>
          <a:xfrm>
            <a:off x="6434667" y="1563157"/>
            <a:ext cx="5664200" cy="3199167"/>
          </a:xfrm>
          <a:prstGeom prst="rect">
            <a:avLst/>
          </a:prstGeom>
        </p:spPr>
      </p:pic>
      <p:sp>
        <p:nvSpPr>
          <p:cNvPr id="5" name="Прямоугольник 4"/>
          <p:cNvSpPr/>
          <p:nvPr/>
        </p:nvSpPr>
        <p:spPr>
          <a:xfrm>
            <a:off x="5774267" y="4762324"/>
            <a:ext cx="6417733" cy="1938992"/>
          </a:xfrm>
          <a:prstGeom prst="rect">
            <a:avLst/>
          </a:prstGeom>
        </p:spPr>
        <p:txBody>
          <a:bodyPr wrap="square">
            <a:spAutoFit/>
          </a:bodyPr>
          <a:lstStyle/>
          <a:p>
            <a:r>
              <a:rPr lang="ru-RU" sz="2400" b="1" dirty="0"/>
              <a:t>Обучение с учителем (</a:t>
            </a:r>
            <a:r>
              <a:rPr lang="ru-RU" sz="2400" b="1" dirty="0" err="1"/>
              <a:t>supervised</a:t>
            </a:r>
            <a:r>
              <a:rPr lang="ru-RU" sz="2400" b="1" dirty="0"/>
              <a:t> </a:t>
            </a:r>
            <a:r>
              <a:rPr lang="ru-RU" sz="2400" b="1" dirty="0" err="1"/>
              <a:t>learning</a:t>
            </a:r>
            <a:r>
              <a:rPr lang="ru-RU" sz="2400" b="1" dirty="0"/>
              <a:t>) </a:t>
            </a:r>
            <a:r>
              <a:rPr lang="ru-RU" sz="2400" dirty="0"/>
              <a:t>– процесс подгонки параметров модели (НС), задачей которого является минимизация разницы между выходом модели и целевым значением для элементов обучающей выборки</a:t>
            </a:r>
          </a:p>
        </p:txBody>
      </p:sp>
    </p:spTree>
    <p:extLst>
      <p:ext uri="{BB962C8B-B14F-4D97-AF65-F5344CB8AC3E}">
        <p14:creationId xmlns:p14="http://schemas.microsoft.com/office/powerpoint/2010/main" val="2166430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Приложения контролируемого обучения</a:t>
            </a:r>
          </a:p>
        </p:txBody>
      </p:sp>
      <p:sp>
        <p:nvSpPr>
          <p:cNvPr id="3" name="Объект 2"/>
          <p:cNvSpPr>
            <a:spLocks noGrp="1"/>
          </p:cNvSpPr>
          <p:nvPr>
            <p:ph idx="1"/>
          </p:nvPr>
        </p:nvSpPr>
        <p:spPr>
          <a:xfrm>
            <a:off x="838200" y="1515533"/>
            <a:ext cx="10515600" cy="5223934"/>
          </a:xfrm>
        </p:spPr>
        <p:txBody>
          <a:bodyPr>
            <a:normAutofit fontScale="92500" lnSpcReduction="10000"/>
          </a:bodyPr>
          <a:lstStyle/>
          <a:p>
            <a:pPr algn="just"/>
            <a:r>
              <a:rPr lang="ru-RU" dirty="0"/>
              <a:t>Распознавание изображений и объектов</a:t>
            </a:r>
          </a:p>
          <a:p>
            <a:pPr algn="just"/>
            <a:r>
              <a:rPr lang="ru-RU" dirty="0"/>
              <a:t>Системы предиктивной аналитики для формирования прогнозов в области финансов</a:t>
            </a:r>
          </a:p>
          <a:p>
            <a:pPr algn="just"/>
            <a:r>
              <a:rPr lang="ru-RU" dirty="0"/>
              <a:t>Оценка риска развития у пациента конкретного заболевания или состояния на основе его биологических данных и образа жизни</a:t>
            </a:r>
          </a:p>
          <a:p>
            <a:pPr algn="just"/>
            <a:r>
              <a:rPr lang="ru-RU" dirty="0"/>
              <a:t>Анализ настроений клиентов (контекст, эмоции и намерения) </a:t>
            </a:r>
          </a:p>
          <a:p>
            <a:pPr algn="just"/>
            <a:r>
              <a:rPr lang="ru-RU" dirty="0"/>
              <a:t>Прогнозирование поведения клиентов на основе различных характеристик и исторических тенденций</a:t>
            </a:r>
          </a:p>
          <a:p>
            <a:pPr algn="just"/>
            <a:r>
              <a:rPr lang="ru-RU" dirty="0"/>
              <a:t>Обнаружение спама</a:t>
            </a:r>
          </a:p>
          <a:p>
            <a:pPr algn="just"/>
            <a:r>
              <a:rPr lang="ru-RU" dirty="0"/>
              <a:t>Прогнозирование в финансовой отрасли</a:t>
            </a:r>
          </a:p>
          <a:p>
            <a:pPr algn="just"/>
            <a:r>
              <a:rPr lang="ru-RU" dirty="0"/>
              <a:t>Рекомендательные системы, предлагающие персонализированные рекомендации</a:t>
            </a:r>
          </a:p>
        </p:txBody>
      </p:sp>
    </p:spTree>
    <p:extLst>
      <p:ext uri="{BB962C8B-B14F-4D97-AF65-F5344CB8AC3E}">
        <p14:creationId xmlns:p14="http://schemas.microsoft.com/office/powerpoint/2010/main" val="11478795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Неконтролируемое обучение</a:t>
            </a:r>
            <a:endParaRPr lang="ru-RU" dirty="0"/>
          </a:p>
        </p:txBody>
      </p:sp>
      <p:pic>
        <p:nvPicPr>
          <p:cNvPr id="4" name="Объект 3"/>
          <p:cNvPicPr>
            <a:picLocks noGrp="1" noChangeAspect="1"/>
          </p:cNvPicPr>
          <p:nvPr>
            <p:ph idx="1"/>
          </p:nvPr>
        </p:nvPicPr>
        <p:blipFill rotWithShape="1">
          <a:blip r:embed="rId2">
            <a:extLst>
              <a:ext uri="{28A0092B-C50C-407E-A947-70E740481C1C}">
                <a14:useLocalDpi xmlns:a14="http://schemas.microsoft.com/office/drawing/2010/main" val="0"/>
              </a:ext>
            </a:extLst>
          </a:blip>
          <a:srcRect t="67691"/>
          <a:stretch/>
        </p:blipFill>
        <p:spPr>
          <a:xfrm>
            <a:off x="2520109" y="4876800"/>
            <a:ext cx="7631441" cy="1981200"/>
          </a:xfrm>
        </p:spPr>
      </p:pic>
      <p:sp>
        <p:nvSpPr>
          <p:cNvPr id="6" name="Объект 2"/>
          <p:cNvSpPr txBox="1">
            <a:spLocks/>
          </p:cNvSpPr>
          <p:nvPr/>
        </p:nvSpPr>
        <p:spPr>
          <a:xfrm>
            <a:off x="745066" y="1241955"/>
            <a:ext cx="11099800" cy="4854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ru-RU" b="1" i="1" dirty="0"/>
              <a:t>Неконтролируемое обучение</a:t>
            </a:r>
            <a:r>
              <a:rPr lang="ru-RU" dirty="0"/>
              <a:t>, также известное как </a:t>
            </a:r>
            <a:r>
              <a:rPr lang="ru-RU" b="1" i="1" dirty="0"/>
              <a:t>обучение без учителя</a:t>
            </a:r>
            <a:r>
              <a:rPr lang="ru-RU" dirty="0"/>
              <a:t>, использует алгоритмы машинного обучения для анализа и кластеризации </a:t>
            </a:r>
            <a:r>
              <a:rPr lang="ru-RU" u="sng" dirty="0"/>
              <a:t>немаркированных</a:t>
            </a:r>
            <a:r>
              <a:rPr lang="ru-RU" dirty="0"/>
              <a:t> наборов данных. Эти алгоритмы обнаруживают скрытые закономерности или группировки данных без необходимости вмешательства человека</a:t>
            </a:r>
            <a:endParaRPr lang="en-US" dirty="0"/>
          </a:p>
          <a:p>
            <a:pPr marL="0" indent="0" algn="just">
              <a:buNone/>
            </a:pPr>
            <a:r>
              <a:rPr lang="ru-RU" b="1" dirty="0"/>
              <a:t>Обучение без учителя (</a:t>
            </a:r>
            <a:r>
              <a:rPr lang="ru-RU" b="1" dirty="0" err="1"/>
              <a:t>unsupervised</a:t>
            </a:r>
            <a:r>
              <a:rPr lang="ru-RU" b="1" dirty="0"/>
              <a:t> </a:t>
            </a:r>
            <a:r>
              <a:rPr lang="ru-RU" b="1" dirty="0" err="1"/>
              <a:t>learning</a:t>
            </a:r>
            <a:r>
              <a:rPr lang="ru-RU" b="1" dirty="0"/>
              <a:t>) </a:t>
            </a:r>
            <a:r>
              <a:rPr lang="ru-RU" dirty="0"/>
              <a:t>– процесс подгонки параметров модели, выполняемый без целевых значений (нет зависимых переменных, «руководящих» процессом обучения). В этом случае в процессе обучения обнаруживаются скрытые закономерности в данных.</a:t>
            </a:r>
          </a:p>
          <a:p>
            <a:pPr marL="0" indent="0">
              <a:buNone/>
            </a:pPr>
            <a:endParaRPr lang="ru-RU" dirty="0"/>
          </a:p>
        </p:txBody>
      </p:sp>
    </p:spTree>
    <p:extLst>
      <p:ext uri="{BB962C8B-B14F-4D97-AF65-F5344CB8AC3E}">
        <p14:creationId xmlns:p14="http://schemas.microsoft.com/office/powerpoint/2010/main" val="26657142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Приложения неконтролируемого обучения</a:t>
            </a:r>
          </a:p>
        </p:txBody>
      </p:sp>
      <p:sp>
        <p:nvSpPr>
          <p:cNvPr id="3" name="Объект 2"/>
          <p:cNvSpPr>
            <a:spLocks noGrp="1"/>
          </p:cNvSpPr>
          <p:nvPr>
            <p:ph idx="1"/>
          </p:nvPr>
        </p:nvSpPr>
        <p:spPr>
          <a:xfrm>
            <a:off x="838200" y="1464733"/>
            <a:ext cx="10515600" cy="5232400"/>
          </a:xfrm>
        </p:spPr>
        <p:txBody>
          <a:bodyPr>
            <a:normAutofit/>
          </a:bodyPr>
          <a:lstStyle/>
          <a:p>
            <a:pPr algn="just"/>
            <a:r>
              <a:rPr lang="ru-RU" dirty="0"/>
              <a:t>Категоризации статей об одной и той же теме из различных онлайн-изданий</a:t>
            </a:r>
          </a:p>
          <a:p>
            <a:pPr algn="just"/>
            <a:r>
              <a:rPr lang="ru-RU" dirty="0"/>
              <a:t>Задачи визуального восприятия, такие как распознавание объектов</a:t>
            </a:r>
          </a:p>
          <a:p>
            <a:pPr algn="just"/>
            <a:r>
              <a:rPr lang="ru-RU" dirty="0"/>
              <a:t>Медицинская визуализация в радиологии и патологии</a:t>
            </a:r>
          </a:p>
          <a:p>
            <a:pPr algn="just"/>
            <a:r>
              <a:rPr lang="ru-RU" dirty="0"/>
              <a:t>Анализ больших объемов данных и обнаружение нетипичных точек данных (аномалий) в наборе данных </a:t>
            </a:r>
          </a:p>
          <a:p>
            <a:pPr algn="just"/>
            <a:r>
              <a:rPr lang="ru-RU" dirty="0"/>
              <a:t>Создание виртуальных профилей покупателей</a:t>
            </a:r>
          </a:p>
          <a:p>
            <a:pPr algn="just"/>
            <a:r>
              <a:rPr lang="ru-RU" dirty="0"/>
              <a:t>Выявление тенденций, которые можно использовать для разработки эффективных стратегий кросс-продаж</a:t>
            </a:r>
          </a:p>
        </p:txBody>
      </p:sp>
    </p:spTree>
    <p:extLst>
      <p:ext uri="{BB962C8B-B14F-4D97-AF65-F5344CB8AC3E}">
        <p14:creationId xmlns:p14="http://schemas.microsoft.com/office/powerpoint/2010/main" val="2074054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Обучение с подкреплением</a:t>
            </a:r>
          </a:p>
        </p:txBody>
      </p:sp>
      <p:sp>
        <p:nvSpPr>
          <p:cNvPr id="3" name="Объект 2"/>
          <p:cNvSpPr>
            <a:spLocks noGrp="1"/>
          </p:cNvSpPr>
          <p:nvPr>
            <p:ph idx="1"/>
          </p:nvPr>
        </p:nvSpPr>
        <p:spPr/>
        <p:txBody>
          <a:bodyPr/>
          <a:lstStyle/>
          <a:p>
            <a:pPr marL="0" indent="0">
              <a:buNone/>
            </a:pPr>
            <a:r>
              <a:rPr lang="ru-RU" dirty="0"/>
              <a:t>Обучение с подкреплением – это обучение тому, что надо делать, как следует отображать ситуации в действия, чтобы максимизировать некоторый сигнал поощрения (вознаграждения), принимающий числовые значения (Р.С. </a:t>
            </a:r>
            <a:r>
              <a:rPr lang="ru-RU" dirty="0" err="1"/>
              <a:t>Саттон</a:t>
            </a:r>
            <a:r>
              <a:rPr lang="ru-RU" dirty="0"/>
              <a:t>, Э.Г. </a:t>
            </a:r>
            <a:r>
              <a:rPr lang="ru-RU" dirty="0" err="1"/>
              <a:t>Барто</a:t>
            </a:r>
            <a:r>
              <a:rPr lang="ru-RU" dirty="0"/>
              <a:t>, Обучение с подкреплением).</a:t>
            </a:r>
          </a:p>
        </p:txBody>
      </p:sp>
      <p:pic>
        <p:nvPicPr>
          <p:cNvPr id="5" name="Объект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7783" y="3554830"/>
            <a:ext cx="6351707" cy="2989039"/>
          </a:xfrm>
          <a:prstGeom prst="rect">
            <a:avLst/>
          </a:prstGeom>
        </p:spPr>
      </p:pic>
    </p:spTree>
    <p:extLst>
      <p:ext uri="{BB962C8B-B14F-4D97-AF65-F5344CB8AC3E}">
        <p14:creationId xmlns:p14="http://schemas.microsoft.com/office/powerpoint/2010/main" val="1498329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Общий принцип ОП</a:t>
            </a:r>
          </a:p>
        </p:txBody>
      </p:sp>
      <p:sp>
        <p:nvSpPr>
          <p:cNvPr id="3" name="Объект 2"/>
          <p:cNvSpPr>
            <a:spLocks noGrp="1"/>
          </p:cNvSpPr>
          <p:nvPr>
            <p:ph idx="1"/>
          </p:nvPr>
        </p:nvSpPr>
        <p:spPr>
          <a:xfrm>
            <a:off x="838200" y="1357745"/>
            <a:ext cx="10515600" cy="5375564"/>
          </a:xfrm>
        </p:spPr>
        <p:txBody>
          <a:bodyPr>
            <a:noAutofit/>
          </a:bodyPr>
          <a:lstStyle/>
          <a:p>
            <a:pPr algn="just"/>
            <a:r>
              <a:rPr lang="ru-RU" sz="2600" dirty="0"/>
              <a:t>Процесс обучения включает в себя два ключевых вида деятельности, которые повторяются снова и снова: </a:t>
            </a:r>
            <a:r>
              <a:rPr lang="ru-RU" sz="2600" b="1" i="1" dirty="0"/>
              <a:t>исследование и обучение</a:t>
            </a:r>
            <a:r>
              <a:rPr lang="ru-RU" sz="2600" dirty="0"/>
              <a:t>. В ходе исследования агент накапливает </a:t>
            </a:r>
            <a:r>
              <a:rPr lang="ru-RU" sz="2600" u="sng" dirty="0"/>
              <a:t>опыт</a:t>
            </a:r>
            <a:r>
              <a:rPr lang="ru-RU" sz="2600" dirty="0"/>
              <a:t>, выполняя </a:t>
            </a:r>
            <a:r>
              <a:rPr lang="ru-RU" sz="2600" u="sng" dirty="0"/>
              <a:t>действия</a:t>
            </a:r>
            <a:r>
              <a:rPr lang="ru-RU" sz="2600" dirty="0"/>
              <a:t> и исследуя происходящие </a:t>
            </a:r>
            <a:r>
              <a:rPr lang="ru-RU" sz="2600" u="sng" dirty="0"/>
              <a:t>события</a:t>
            </a:r>
            <a:r>
              <a:rPr lang="ru-RU" sz="2600" dirty="0"/>
              <a:t>. Затем, в ходе обучения, агент использует накопленный опыт для самосовершенствования</a:t>
            </a:r>
            <a:endParaRPr lang="en-US" sz="2600" dirty="0"/>
          </a:p>
          <a:p>
            <a:pPr algn="just"/>
            <a:r>
              <a:rPr lang="ru-RU" sz="2600" dirty="0"/>
              <a:t>После выбора агентом </a:t>
            </a:r>
            <a:r>
              <a:rPr lang="ru-RU" sz="2600" u="sng" dirty="0"/>
              <a:t>действия</a:t>
            </a:r>
            <a:r>
              <a:rPr lang="ru-RU" sz="2600" dirty="0"/>
              <a:t> среда обновляется. Она также возвращает </a:t>
            </a:r>
            <a:r>
              <a:rPr lang="ru-RU" sz="2600" u="sng" dirty="0"/>
              <a:t>вознаграждение</a:t>
            </a:r>
            <a:r>
              <a:rPr lang="ru-RU" sz="2600" dirty="0"/>
              <a:t> в зависимости от успешности действий агента. Разработчик среды программирует структуру вознаграждения</a:t>
            </a:r>
          </a:p>
          <a:p>
            <a:pPr algn="just"/>
            <a:r>
              <a:rPr lang="ru-RU" sz="2600" dirty="0"/>
              <a:t>На каждом этапе ИИ-агент наблюдает за текущим состоянием среды и выбирает действие. Цель обучения с подкреплением — выучить соответствие между наблюдениями и действиями, то есть «учитывая наблюдаемое состояние, какое действие я должен выбрать»? Это называется политикой. Для ее реализации используются глубокие НС.</a:t>
            </a:r>
          </a:p>
        </p:txBody>
      </p:sp>
    </p:spTree>
    <p:extLst>
      <p:ext uri="{BB962C8B-B14F-4D97-AF65-F5344CB8AC3E}">
        <p14:creationId xmlns:p14="http://schemas.microsoft.com/office/powerpoint/2010/main" val="5448572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Общий принцип ОП</a:t>
            </a:r>
            <a:endParaRPr lang="ru-RU" dirty="0"/>
          </a:p>
        </p:txBody>
      </p:sp>
      <p:pic>
        <p:nvPicPr>
          <p:cNvPr id="7" name="Объект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41542" y="2061153"/>
            <a:ext cx="7735712" cy="4351338"/>
          </a:xfrm>
        </p:spPr>
      </p:pic>
      <p:sp>
        <p:nvSpPr>
          <p:cNvPr id="8" name="Прямоугольник 7"/>
          <p:cNvSpPr/>
          <p:nvPr/>
        </p:nvSpPr>
        <p:spPr>
          <a:xfrm>
            <a:off x="110837" y="1900812"/>
            <a:ext cx="4130706" cy="4939814"/>
          </a:xfrm>
          <a:prstGeom prst="rect">
            <a:avLst/>
          </a:prstGeom>
        </p:spPr>
        <p:txBody>
          <a:bodyPr wrap="square">
            <a:spAutoFit/>
          </a:bodyPr>
          <a:lstStyle/>
          <a:p>
            <a:r>
              <a:rPr lang="ru-RU" sz="2100" dirty="0">
                <a:latin typeface="Calibri" panose="020F0502020204030204" pitchFamily="34" charset="0"/>
                <a:cs typeface="Calibri" panose="020F0502020204030204" pitchFamily="34" charset="0"/>
              </a:rPr>
              <a:t>Агент наблюдает за состоянием S, запрашивает сеть для генерации действия A. Среда выполняет действие и возвращает награду r и следующее состояние s'. Это продолжается до завершения эпизода. Каждый шаг, выполняемый агентом, впоследствии используется для обучения сети политики агента. Понимание различий и взаимодействия между агентом, политикой и средой крайне важно для понимания обучения с подкреплением.</a:t>
            </a:r>
          </a:p>
        </p:txBody>
      </p:sp>
    </p:spTree>
    <p:extLst>
      <p:ext uri="{BB962C8B-B14F-4D97-AF65-F5344CB8AC3E}">
        <p14:creationId xmlns:p14="http://schemas.microsoft.com/office/powerpoint/2010/main" val="186857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Приложения обучения с подкреплением</a:t>
            </a:r>
          </a:p>
        </p:txBody>
      </p:sp>
      <p:sp>
        <p:nvSpPr>
          <p:cNvPr id="3" name="Объект 2"/>
          <p:cNvSpPr>
            <a:spLocks noGrp="1"/>
          </p:cNvSpPr>
          <p:nvPr>
            <p:ph idx="1"/>
          </p:nvPr>
        </p:nvSpPr>
        <p:spPr>
          <a:xfrm>
            <a:off x="838200" y="1464733"/>
            <a:ext cx="10515600" cy="5232400"/>
          </a:xfrm>
        </p:spPr>
        <p:txBody>
          <a:bodyPr>
            <a:normAutofit/>
          </a:bodyPr>
          <a:lstStyle/>
          <a:p>
            <a:r>
              <a:rPr lang="ru-RU" dirty="0"/>
              <a:t>Самоуправляемые автомобили</a:t>
            </a:r>
          </a:p>
          <a:p>
            <a:r>
              <a:rPr lang="ru-RU" dirty="0"/>
              <a:t>Промышленная автоматизация (манипуляторы)</a:t>
            </a:r>
          </a:p>
          <a:p>
            <a:r>
              <a:rPr lang="ru-RU" dirty="0"/>
              <a:t>Финансы и </a:t>
            </a:r>
            <a:r>
              <a:rPr lang="ru-RU" dirty="0" err="1"/>
              <a:t>трейдинг</a:t>
            </a:r>
            <a:endParaRPr lang="ru-RU" dirty="0"/>
          </a:p>
          <a:p>
            <a:r>
              <a:rPr lang="ru-RU" dirty="0"/>
              <a:t>Игры</a:t>
            </a:r>
          </a:p>
          <a:p>
            <a:r>
              <a:rPr lang="ru-RU" dirty="0"/>
              <a:t>Обработка естественного языка</a:t>
            </a:r>
          </a:p>
          <a:p>
            <a:r>
              <a:rPr lang="ru-RU" dirty="0"/>
              <a:t>Здравоохранение</a:t>
            </a:r>
          </a:p>
          <a:p>
            <a:r>
              <a:rPr lang="ru-RU" dirty="0"/>
              <a:t>Рекомендации новостей</a:t>
            </a:r>
          </a:p>
        </p:txBody>
      </p:sp>
    </p:spTree>
    <p:extLst>
      <p:ext uri="{BB962C8B-B14F-4D97-AF65-F5344CB8AC3E}">
        <p14:creationId xmlns:p14="http://schemas.microsoft.com/office/powerpoint/2010/main" val="22939342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Иллюстрация типов МО </a:t>
            </a:r>
          </a:p>
        </p:txBody>
      </p:sp>
      <p:pic>
        <p:nvPicPr>
          <p:cNvPr id="5" name="Объект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3972" y="1921563"/>
            <a:ext cx="9164056" cy="4763400"/>
          </a:xfrm>
        </p:spPr>
      </p:pic>
    </p:spTree>
    <p:extLst>
      <p:ext uri="{BB962C8B-B14F-4D97-AF65-F5344CB8AC3E}">
        <p14:creationId xmlns:p14="http://schemas.microsoft.com/office/powerpoint/2010/main" val="24626602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Calibri"/>
              <a:buNone/>
            </a:pPr>
            <a:r>
              <a:rPr lang="ru-RU" b="1" dirty="0">
                <a:effectLst>
                  <a:outerShdw blurRad="38100" dist="38100" dir="2700000" algn="tl">
                    <a:srgbClr val="000000">
                      <a:alpha val="43137"/>
                    </a:srgbClr>
                  </a:outerShdw>
                </a:effectLst>
              </a:rPr>
              <a:t>Две проблемы обучения моделей – </a:t>
            </a:r>
            <a:br>
              <a:rPr lang="ru-RU" b="1" dirty="0">
                <a:effectLst>
                  <a:outerShdw blurRad="38100" dist="38100" dir="2700000" algn="tl">
                    <a:srgbClr val="000000">
                      <a:alpha val="43137"/>
                    </a:srgbClr>
                  </a:outerShdw>
                </a:effectLst>
              </a:rPr>
            </a:br>
            <a:r>
              <a:rPr lang="ru-RU" b="1" dirty="0" err="1">
                <a:effectLst>
                  <a:outerShdw blurRad="38100" dist="38100" dir="2700000" algn="tl">
                    <a:srgbClr val="000000">
                      <a:alpha val="43137"/>
                    </a:srgbClr>
                  </a:outerShdw>
                </a:effectLst>
              </a:rPr>
              <a:t>bias-variance</a:t>
            </a:r>
            <a:r>
              <a:rPr lang="ru-RU" b="1" dirty="0">
                <a:effectLst>
                  <a:outerShdw blurRad="38100" dist="38100" dir="2700000" algn="tl">
                    <a:srgbClr val="000000">
                      <a:alpha val="43137"/>
                    </a:srgbClr>
                  </a:outerShdw>
                </a:effectLst>
              </a:rPr>
              <a:t> </a:t>
            </a:r>
            <a:r>
              <a:rPr lang="ru-RU" b="1" dirty="0" err="1">
                <a:effectLst>
                  <a:outerShdw blurRad="38100" dist="38100" dir="2700000" algn="tl">
                    <a:srgbClr val="000000">
                      <a:alpha val="43137"/>
                    </a:srgbClr>
                  </a:outerShdw>
                </a:effectLst>
              </a:rPr>
              <a:t>tradeoff</a:t>
            </a:r>
            <a:endParaRPr b="1" dirty="0">
              <a:effectLst>
                <a:outerShdw blurRad="38100" dist="38100" dir="2700000" algn="tl">
                  <a:srgbClr val="000000">
                    <a:alpha val="43137"/>
                  </a:srgbClr>
                </a:outerShdw>
              </a:effectLst>
            </a:endParaRPr>
          </a:p>
        </p:txBody>
      </p:sp>
      <p:pic>
        <p:nvPicPr>
          <p:cNvPr id="233" name="Google Shape;233;p17"/>
          <p:cNvPicPr preferRelativeResize="0"/>
          <p:nvPr/>
        </p:nvPicPr>
        <p:blipFill rotWithShape="1">
          <a:blip r:embed="rId3">
            <a:alphaModFix/>
          </a:blip>
          <a:srcRect/>
          <a:stretch/>
        </p:blipFill>
        <p:spPr>
          <a:xfrm>
            <a:off x="7037934" y="1825625"/>
            <a:ext cx="4604419" cy="4439976"/>
          </a:xfrm>
          <a:prstGeom prst="rect">
            <a:avLst/>
          </a:prstGeom>
          <a:noFill/>
          <a:ln>
            <a:noFill/>
          </a:ln>
        </p:spPr>
      </p:pic>
      <p:sp>
        <p:nvSpPr>
          <p:cNvPr id="2" name="Объект 1"/>
          <p:cNvSpPr>
            <a:spLocks noGrp="1"/>
          </p:cNvSpPr>
          <p:nvPr>
            <p:ph idx="1"/>
          </p:nvPr>
        </p:nvSpPr>
        <p:spPr>
          <a:xfrm>
            <a:off x="838200" y="1825625"/>
            <a:ext cx="6199734" cy="4351338"/>
          </a:xfrm>
        </p:spPr>
        <p:txBody>
          <a:bodyPr/>
          <a:lstStyle/>
          <a:p>
            <a:pPr marL="0" indent="0">
              <a:buNone/>
            </a:pPr>
            <a:r>
              <a:rPr lang="ru-RU" b="1" i="1" dirty="0"/>
              <a:t>Компромисс между смещением и дисперсией </a:t>
            </a:r>
            <a:r>
              <a:rPr lang="ru-RU" dirty="0"/>
              <a:t>— это концепция, которая определяет производительность модели предиктивного машинного обучения и является основополагающим принципом в науке о данных</a:t>
            </a:r>
          </a:p>
        </p:txBody>
      </p:sp>
      <p:sp>
        <p:nvSpPr>
          <p:cNvPr id="3" name="Прямоугольник 2"/>
          <p:cNvSpPr/>
          <p:nvPr/>
        </p:nvSpPr>
        <p:spPr>
          <a:xfrm>
            <a:off x="0" y="0"/>
            <a:ext cx="2694135" cy="369332"/>
          </a:xfrm>
          <a:prstGeom prst="rect">
            <a:avLst/>
          </a:prstGeom>
        </p:spPr>
        <p:txBody>
          <a:bodyPr wrap="none">
            <a:spAutoFit/>
          </a:bodyPr>
          <a:lstStyle/>
          <a:p>
            <a:r>
              <a:rPr lang="en-US" b="1" dirty="0"/>
              <a:t>4/4</a:t>
            </a:r>
            <a:r>
              <a:rPr lang="ru-RU" b="1" dirty="0"/>
              <a:t> Основные проблемы</a:t>
            </a:r>
          </a:p>
        </p:txBody>
      </p:sp>
    </p:spTree>
    <p:extLst>
      <p:ext uri="{BB962C8B-B14F-4D97-AF65-F5344CB8AC3E}">
        <p14:creationId xmlns:p14="http://schemas.microsoft.com/office/powerpoint/2010/main" val="23561727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Смещение и дисперсия</a:t>
            </a:r>
          </a:p>
        </p:txBody>
      </p:sp>
      <p:sp>
        <p:nvSpPr>
          <p:cNvPr id="3" name="Объект 2"/>
          <p:cNvSpPr>
            <a:spLocks noGrp="1"/>
          </p:cNvSpPr>
          <p:nvPr>
            <p:ph idx="1"/>
          </p:nvPr>
        </p:nvSpPr>
        <p:spPr>
          <a:xfrm>
            <a:off x="838200" y="1825624"/>
            <a:ext cx="10515600" cy="4935393"/>
          </a:xfrm>
        </p:spPr>
        <p:txBody>
          <a:bodyPr>
            <a:normAutofit fontScale="92500" lnSpcReduction="10000"/>
          </a:bodyPr>
          <a:lstStyle/>
          <a:p>
            <a:pPr algn="just"/>
            <a:r>
              <a:rPr lang="ru-RU" dirty="0"/>
              <a:t>Смещение и дисперсия представляют собой два источника ошибок прогнозирования</a:t>
            </a:r>
          </a:p>
          <a:p>
            <a:pPr algn="just"/>
            <a:r>
              <a:rPr lang="ru-RU" dirty="0"/>
              <a:t>Смещение определяет, насколько в среднем предсказания модели отклоняются от истинных значений. Модели с высоким смещением, как правило, делают сильные предположения о форме данных и </a:t>
            </a:r>
            <a:r>
              <a:rPr lang="ru-RU" dirty="0" err="1"/>
              <a:t>недообучены</a:t>
            </a:r>
            <a:r>
              <a:rPr lang="ru-RU" dirty="0"/>
              <a:t> (чрезмерно упрощенные модели), такая модель зачастую имеет высокие ошибки обучения и высокие ошибки предсказания</a:t>
            </a:r>
          </a:p>
          <a:p>
            <a:pPr algn="just"/>
            <a:r>
              <a:rPr lang="ru-RU" dirty="0"/>
              <a:t>Дисперсия измеряет, насколько сильно предсказания модели меняются при использовании различных обучающих наборов данных. Модели с высокой дисперсией </a:t>
            </a:r>
            <a:r>
              <a:rPr lang="ru-RU" b="1" dirty="0"/>
              <a:t>чувствительны к шуму </a:t>
            </a:r>
            <a:r>
              <a:rPr lang="ru-RU" dirty="0"/>
              <a:t>в обучающих данных и переобучены. Модель со сложной архитектурой и большим количеством параметров, как правило, имеет </a:t>
            </a:r>
            <a:r>
              <a:rPr lang="ru-RU" b="1" dirty="0"/>
              <a:t>высокую дисперсию и низкое смещение</a:t>
            </a:r>
            <a:r>
              <a:rPr lang="ru-RU" dirty="0"/>
              <a:t>.</a:t>
            </a:r>
          </a:p>
        </p:txBody>
      </p:sp>
    </p:spTree>
    <p:extLst>
      <p:ext uri="{BB962C8B-B14F-4D97-AF65-F5344CB8AC3E}">
        <p14:creationId xmlns:p14="http://schemas.microsoft.com/office/powerpoint/2010/main" val="30974082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buClr>
                <a:srgbClr val="3F3F3F"/>
              </a:buClr>
              <a:buSzPts val="4800"/>
            </a:pPr>
            <a:r>
              <a:rPr lang="ru-RU" b="1" dirty="0">
                <a:effectLst>
                  <a:outerShdw blurRad="38100" dist="38100" dir="2700000" algn="tl">
                    <a:srgbClr val="000000">
                      <a:alpha val="43137"/>
                    </a:srgbClr>
                  </a:outerShdw>
                </a:effectLst>
              </a:rPr>
              <a:t>Проблема </a:t>
            </a:r>
            <a:r>
              <a:rPr lang="ru-RU" b="1" dirty="0" err="1">
                <a:effectLst>
                  <a:outerShdw blurRad="38100" dist="38100" dir="2700000" algn="tl">
                    <a:srgbClr val="000000">
                      <a:alpha val="43137"/>
                    </a:srgbClr>
                  </a:outerShdw>
                </a:effectLst>
              </a:rPr>
              <a:t>недообучения</a:t>
            </a:r>
            <a:endParaRPr lang="ru-RU" b="1" dirty="0">
              <a:effectLst>
                <a:outerShdw blurRad="38100" dist="38100" dir="2700000" algn="tl">
                  <a:srgbClr val="000000">
                    <a:alpha val="43137"/>
                  </a:srgbClr>
                </a:outerShdw>
              </a:effectLst>
            </a:endParaRPr>
          </a:p>
        </p:txBody>
      </p:sp>
      <p:sp>
        <p:nvSpPr>
          <p:cNvPr id="3" name="Объект 2"/>
          <p:cNvSpPr>
            <a:spLocks noGrp="1"/>
          </p:cNvSpPr>
          <p:nvPr>
            <p:ph idx="1"/>
          </p:nvPr>
        </p:nvSpPr>
        <p:spPr>
          <a:xfrm>
            <a:off x="477794" y="1845733"/>
            <a:ext cx="5881817" cy="4431498"/>
          </a:xfrm>
        </p:spPr>
        <p:txBody>
          <a:bodyPr>
            <a:normAutofit fontScale="55000" lnSpcReduction="20000"/>
          </a:bodyPr>
          <a:lstStyle/>
          <a:p>
            <a:pPr marL="0" indent="0" algn="just">
              <a:lnSpc>
                <a:spcPct val="120000"/>
              </a:lnSpc>
              <a:spcAft>
                <a:spcPts val="0"/>
              </a:spcAft>
              <a:buNone/>
            </a:pPr>
            <a:r>
              <a:rPr lang="ru-RU" sz="5100" dirty="0"/>
              <a:t>Модель имеет </a:t>
            </a:r>
            <a:r>
              <a:rPr lang="ru-RU" sz="5100" b="1" dirty="0"/>
              <a:t>низкое смещение</a:t>
            </a:r>
            <a:r>
              <a:rPr lang="ru-RU" sz="5100" dirty="0"/>
              <a:t>, если она хорошо предсказывает метки на </a:t>
            </a:r>
            <a:r>
              <a:rPr lang="ru-RU" sz="5100" b="1" dirty="0"/>
              <a:t>обучающем</a:t>
            </a:r>
            <a:r>
              <a:rPr lang="ru-RU" sz="5100" dirty="0"/>
              <a:t> наборе.</a:t>
            </a:r>
          </a:p>
          <a:p>
            <a:pPr marL="0" indent="0" algn="just">
              <a:lnSpc>
                <a:spcPct val="120000"/>
              </a:lnSpc>
              <a:spcAft>
                <a:spcPts val="0"/>
              </a:spcAft>
              <a:buNone/>
            </a:pPr>
            <a:r>
              <a:rPr lang="ru-RU" sz="5100" dirty="0"/>
              <a:t>Если модель допускает </a:t>
            </a:r>
            <a:r>
              <a:rPr lang="ru-RU" sz="5100" b="1" dirty="0"/>
              <a:t>слишком много </a:t>
            </a:r>
            <a:r>
              <a:rPr lang="ru-RU" sz="5100" dirty="0"/>
              <a:t>ошибок на </a:t>
            </a:r>
            <a:r>
              <a:rPr lang="ru-RU" sz="5100" b="1" dirty="0"/>
              <a:t>обучающих</a:t>
            </a:r>
            <a:r>
              <a:rPr lang="ru-RU" sz="5100" dirty="0"/>
              <a:t> данных, то говорят, что она имеет </a:t>
            </a:r>
            <a:r>
              <a:rPr lang="ru-RU" sz="5100" b="1" dirty="0"/>
              <a:t>высокое смещение</a:t>
            </a:r>
            <a:r>
              <a:rPr lang="ru-RU" sz="5100" dirty="0"/>
              <a:t>, или что она </a:t>
            </a:r>
            <a:r>
              <a:rPr lang="ru-RU" sz="5100" b="1" u="sng" dirty="0" err="1"/>
              <a:t>недообучена</a:t>
            </a:r>
            <a:r>
              <a:rPr lang="ru-RU" sz="5100" dirty="0"/>
              <a:t>.</a:t>
            </a:r>
          </a:p>
          <a:p>
            <a:pPr marL="0" indent="0" algn="just">
              <a:lnSpc>
                <a:spcPct val="120000"/>
              </a:lnSpc>
              <a:spcAft>
                <a:spcPts val="0"/>
              </a:spcAft>
              <a:buNone/>
            </a:pPr>
            <a:r>
              <a:rPr lang="ru-RU" sz="5100" dirty="0"/>
              <a:t> Модель слишком упрощает данные.</a:t>
            </a:r>
          </a:p>
          <a:p>
            <a:pPr marL="0" indent="0" algn="just">
              <a:buNone/>
            </a:pPr>
            <a:endParaRPr lang="ru-RU" sz="2800" dirty="0"/>
          </a:p>
        </p:txBody>
      </p:sp>
      <p:pic>
        <p:nvPicPr>
          <p:cNvPr id="14" name="Рисунок 13"/>
          <p:cNvPicPr>
            <a:picLocks noChangeAspect="1"/>
          </p:cNvPicPr>
          <p:nvPr/>
        </p:nvPicPr>
        <p:blipFill>
          <a:blip r:embed="rId2"/>
          <a:stretch>
            <a:fillRect/>
          </a:stretch>
        </p:blipFill>
        <p:spPr>
          <a:xfrm>
            <a:off x="6674064" y="1997196"/>
            <a:ext cx="5213135" cy="4128571"/>
          </a:xfrm>
          <a:prstGeom prst="rect">
            <a:avLst/>
          </a:prstGeom>
        </p:spPr>
      </p:pic>
    </p:spTree>
    <p:extLst>
      <p:ext uri="{BB962C8B-B14F-4D97-AF65-F5344CB8AC3E}">
        <p14:creationId xmlns:p14="http://schemas.microsoft.com/office/powerpoint/2010/main" val="8452971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buClr>
                <a:srgbClr val="3F3F3F"/>
              </a:buClr>
              <a:buSzPts val="4800"/>
            </a:pPr>
            <a:r>
              <a:rPr lang="ru-RU" b="1" dirty="0">
                <a:effectLst>
                  <a:outerShdw blurRad="38100" dist="38100" dir="2700000" algn="tl">
                    <a:srgbClr val="000000">
                      <a:alpha val="43137"/>
                    </a:srgbClr>
                  </a:outerShdw>
                </a:effectLst>
              </a:rPr>
              <a:t>Причины </a:t>
            </a:r>
            <a:r>
              <a:rPr lang="ru-RU" b="1" dirty="0" err="1">
                <a:effectLst>
                  <a:outerShdw blurRad="38100" dist="38100" dir="2700000" algn="tl">
                    <a:srgbClr val="000000">
                      <a:alpha val="43137"/>
                    </a:srgbClr>
                  </a:outerShdw>
                </a:effectLst>
              </a:rPr>
              <a:t>недообучения</a:t>
            </a:r>
            <a:endParaRPr lang="ru-RU" b="1" dirty="0">
              <a:effectLst>
                <a:outerShdw blurRad="38100" dist="38100" dir="2700000" algn="tl">
                  <a:srgbClr val="000000">
                    <a:alpha val="43137"/>
                  </a:srgbClr>
                </a:outerShdw>
              </a:effectLst>
            </a:endParaRPr>
          </a:p>
        </p:txBody>
      </p:sp>
      <p:sp>
        <p:nvSpPr>
          <p:cNvPr id="3" name="Объект 2"/>
          <p:cNvSpPr>
            <a:spLocks noGrp="1"/>
          </p:cNvSpPr>
          <p:nvPr>
            <p:ph idx="1"/>
          </p:nvPr>
        </p:nvSpPr>
        <p:spPr/>
        <p:txBody>
          <a:bodyPr/>
          <a:lstStyle/>
          <a:p>
            <a:pPr marL="0" indent="0" algn="just">
              <a:buNone/>
            </a:pPr>
            <a:r>
              <a:rPr lang="ru-RU" sz="3200" dirty="0"/>
              <a:t>1. модель слишком проста для данных </a:t>
            </a:r>
          </a:p>
          <a:p>
            <a:pPr marL="0" indent="0" algn="just">
              <a:buNone/>
            </a:pPr>
            <a:r>
              <a:rPr lang="ru-RU" sz="3200" dirty="0"/>
              <a:t>(например, </a:t>
            </a:r>
            <a:r>
              <a:rPr lang="ru-RU" sz="3200" b="1" dirty="0"/>
              <a:t>линейные модели </a:t>
            </a:r>
            <a:r>
              <a:rPr lang="ru-RU" sz="3200" dirty="0"/>
              <a:t>часто </a:t>
            </a:r>
            <a:r>
              <a:rPr lang="ru-RU" sz="3200" dirty="0" err="1"/>
              <a:t>недообучены</a:t>
            </a:r>
            <a:r>
              <a:rPr lang="ru-RU" sz="3200" dirty="0"/>
              <a:t>);</a:t>
            </a:r>
          </a:p>
          <a:p>
            <a:pPr marL="0" indent="0" algn="just">
              <a:buNone/>
            </a:pPr>
            <a:r>
              <a:rPr lang="ru-RU" sz="3200" dirty="0"/>
              <a:t>2. признаки недостаточно информативны;</a:t>
            </a:r>
          </a:p>
          <a:p>
            <a:pPr marL="0" indent="0" algn="just">
              <a:buNone/>
            </a:pPr>
            <a:r>
              <a:rPr lang="ru-RU" sz="3200" dirty="0"/>
              <a:t>3. модель слишком сильно </a:t>
            </a:r>
            <a:r>
              <a:rPr lang="ru-RU" sz="3200" i="1" dirty="0"/>
              <a:t>регуляризирована.</a:t>
            </a:r>
          </a:p>
          <a:p>
            <a:endParaRPr lang="ru-RU" dirty="0"/>
          </a:p>
        </p:txBody>
      </p:sp>
    </p:spTree>
    <p:extLst>
      <p:ext uri="{BB962C8B-B14F-4D97-AF65-F5344CB8AC3E}">
        <p14:creationId xmlns:p14="http://schemas.microsoft.com/office/powerpoint/2010/main" val="4466836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buClr>
                <a:srgbClr val="3F3F3F"/>
              </a:buClr>
              <a:buSzPts val="4800"/>
            </a:pPr>
            <a:r>
              <a:rPr lang="ru-RU" b="1" dirty="0">
                <a:effectLst>
                  <a:outerShdw blurRad="38100" dist="38100" dir="2700000" algn="tl">
                    <a:srgbClr val="000000">
                      <a:alpha val="43137"/>
                    </a:srgbClr>
                  </a:outerShdw>
                </a:effectLst>
              </a:rPr>
              <a:t>Решения проблемы </a:t>
            </a:r>
            <a:r>
              <a:rPr lang="ru-RU" b="1" dirty="0" err="1">
                <a:effectLst>
                  <a:outerShdw blurRad="38100" dist="38100" dir="2700000" algn="tl">
                    <a:srgbClr val="000000">
                      <a:alpha val="43137"/>
                    </a:srgbClr>
                  </a:outerShdw>
                </a:effectLst>
              </a:rPr>
              <a:t>недообучения</a:t>
            </a:r>
            <a:endParaRPr lang="ru-RU" b="1" dirty="0">
              <a:effectLst>
                <a:outerShdw blurRad="38100" dist="38100" dir="2700000" algn="tl">
                  <a:srgbClr val="000000">
                    <a:alpha val="43137"/>
                  </a:srgbClr>
                </a:outerShdw>
              </a:effectLst>
            </a:endParaRPr>
          </a:p>
        </p:txBody>
      </p:sp>
      <p:sp>
        <p:nvSpPr>
          <p:cNvPr id="3" name="Объект 2"/>
          <p:cNvSpPr>
            <a:spLocks noGrp="1"/>
          </p:cNvSpPr>
          <p:nvPr>
            <p:ph idx="1"/>
          </p:nvPr>
        </p:nvSpPr>
        <p:spPr/>
        <p:txBody>
          <a:bodyPr/>
          <a:lstStyle/>
          <a:p>
            <a:pPr marL="0" indent="0">
              <a:buNone/>
            </a:pPr>
            <a:r>
              <a:rPr lang="ru-RU" sz="3200" dirty="0"/>
              <a:t>1. попробовать более </a:t>
            </a:r>
            <a:r>
              <a:rPr lang="ru-RU" sz="3200" b="1" dirty="0"/>
              <a:t>сложную</a:t>
            </a:r>
            <a:r>
              <a:rPr lang="ru-RU" sz="3200" dirty="0"/>
              <a:t> модель;</a:t>
            </a:r>
          </a:p>
          <a:p>
            <a:pPr marL="0" indent="0">
              <a:buNone/>
            </a:pPr>
            <a:r>
              <a:rPr lang="ru-RU" sz="3200" dirty="0"/>
              <a:t>2. сконструировать  признаки  с  большей </a:t>
            </a:r>
            <a:r>
              <a:rPr lang="ru-RU" sz="3200" b="1" dirty="0"/>
              <a:t>предсказательной</a:t>
            </a:r>
            <a:r>
              <a:rPr lang="ru-RU" sz="3200" dirty="0"/>
              <a:t>  способностью;</a:t>
            </a:r>
          </a:p>
          <a:p>
            <a:pPr marL="0" indent="0">
              <a:buNone/>
            </a:pPr>
            <a:r>
              <a:rPr lang="ru-RU" sz="3200" dirty="0"/>
              <a:t>3. если возможно, добавить </a:t>
            </a:r>
            <a:r>
              <a:rPr lang="ru-RU" sz="3200" b="1" dirty="0"/>
              <a:t>обучающие</a:t>
            </a:r>
            <a:r>
              <a:rPr lang="ru-RU" sz="3200" dirty="0"/>
              <a:t> данные;</a:t>
            </a:r>
          </a:p>
          <a:p>
            <a:pPr marL="0" indent="0">
              <a:buNone/>
            </a:pPr>
            <a:r>
              <a:rPr lang="ru-RU" sz="3200" dirty="0"/>
              <a:t>4. уменьшить степень </a:t>
            </a:r>
            <a:r>
              <a:rPr lang="ru-RU" sz="3200" b="1" dirty="0"/>
              <a:t>регуляризации</a:t>
            </a:r>
            <a:r>
              <a:rPr lang="ru-RU" sz="3200" dirty="0"/>
              <a:t>.</a:t>
            </a:r>
          </a:p>
          <a:p>
            <a:endParaRPr lang="ru-RU" dirty="0"/>
          </a:p>
        </p:txBody>
      </p:sp>
    </p:spTree>
    <p:extLst>
      <p:ext uri="{BB962C8B-B14F-4D97-AF65-F5344CB8AC3E}">
        <p14:creationId xmlns:p14="http://schemas.microsoft.com/office/powerpoint/2010/main" val="5415883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buClr>
                <a:srgbClr val="3F3F3F"/>
              </a:buClr>
              <a:buSzPts val="4800"/>
            </a:pPr>
            <a:r>
              <a:rPr lang="ru-RU" b="1" dirty="0">
                <a:effectLst>
                  <a:outerShdw blurRad="38100" dist="38100" dir="2700000" algn="tl">
                    <a:srgbClr val="000000">
                      <a:alpha val="43137"/>
                    </a:srgbClr>
                  </a:outerShdw>
                </a:effectLst>
              </a:rPr>
              <a:t>Проблема переобучения</a:t>
            </a:r>
          </a:p>
        </p:txBody>
      </p:sp>
      <p:sp>
        <p:nvSpPr>
          <p:cNvPr id="3" name="Объект 2"/>
          <p:cNvSpPr>
            <a:spLocks noGrp="1"/>
          </p:cNvSpPr>
          <p:nvPr>
            <p:ph idx="1"/>
          </p:nvPr>
        </p:nvSpPr>
        <p:spPr>
          <a:xfrm>
            <a:off x="700217" y="1845734"/>
            <a:ext cx="5651156" cy="4023360"/>
          </a:xfrm>
        </p:spPr>
        <p:txBody>
          <a:bodyPr>
            <a:normAutofit fontScale="92500" lnSpcReduction="10000"/>
          </a:bodyPr>
          <a:lstStyle/>
          <a:p>
            <a:pPr algn="just"/>
            <a:r>
              <a:rPr lang="ru-RU" sz="2800" dirty="0"/>
              <a:t>Переобученная модель обычно очень </a:t>
            </a:r>
            <a:r>
              <a:rPr lang="ru-RU" sz="2800" b="1" dirty="0"/>
              <a:t>хорошо </a:t>
            </a:r>
            <a:r>
              <a:rPr lang="ru-RU" sz="2800" dirty="0"/>
              <a:t>предсказывает метки </a:t>
            </a:r>
            <a:r>
              <a:rPr lang="ru-RU" sz="2800" b="1" dirty="0"/>
              <a:t>обучающих</a:t>
            </a:r>
            <a:r>
              <a:rPr lang="ru-RU" sz="2800" dirty="0"/>
              <a:t> данных, но </a:t>
            </a:r>
            <a:r>
              <a:rPr lang="ru-RU" sz="2800" b="1" dirty="0"/>
              <a:t>плохо</a:t>
            </a:r>
            <a:r>
              <a:rPr lang="ru-RU" sz="2800" dirty="0"/>
              <a:t> работает на </a:t>
            </a:r>
            <a:r>
              <a:rPr lang="ru-RU" sz="2800" b="1" dirty="0"/>
              <a:t>тестовых</a:t>
            </a:r>
            <a:r>
              <a:rPr lang="ru-RU" sz="2800" dirty="0"/>
              <a:t> данных.</a:t>
            </a:r>
          </a:p>
          <a:p>
            <a:pPr algn="just"/>
            <a:r>
              <a:rPr lang="ru-RU" sz="2800" dirty="0"/>
              <a:t>Встречается другое название </a:t>
            </a:r>
            <a:r>
              <a:rPr lang="ru-RU" sz="2800" dirty="0" err="1"/>
              <a:t>переобученности</a:t>
            </a:r>
            <a:r>
              <a:rPr lang="ru-RU" sz="2800" dirty="0"/>
              <a:t>: </a:t>
            </a:r>
            <a:r>
              <a:rPr lang="ru-RU" sz="2800" b="1" dirty="0"/>
              <a:t>высокая дисперсия</a:t>
            </a:r>
            <a:r>
              <a:rPr lang="ru-RU" sz="2800" dirty="0"/>
              <a:t>. Модель излишне чувствительна к малым флуктуациям обучающих данных. Если бы выборка обучающих данных была другой, то мы получили бы совершенно иную модель. </a:t>
            </a:r>
          </a:p>
        </p:txBody>
      </p:sp>
      <p:pic>
        <p:nvPicPr>
          <p:cNvPr id="4" name="Рисунок 3"/>
          <p:cNvPicPr>
            <a:picLocks noChangeAspect="1"/>
          </p:cNvPicPr>
          <p:nvPr/>
        </p:nvPicPr>
        <p:blipFill>
          <a:blip r:embed="rId2"/>
          <a:stretch>
            <a:fillRect/>
          </a:stretch>
        </p:blipFill>
        <p:spPr>
          <a:xfrm>
            <a:off x="6596961" y="1845734"/>
            <a:ext cx="5356139" cy="4236618"/>
          </a:xfrm>
          <a:prstGeom prst="rect">
            <a:avLst/>
          </a:prstGeom>
        </p:spPr>
      </p:pic>
    </p:spTree>
    <p:extLst>
      <p:ext uri="{BB962C8B-B14F-4D97-AF65-F5344CB8AC3E}">
        <p14:creationId xmlns:p14="http://schemas.microsoft.com/office/powerpoint/2010/main" val="36423604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buClr>
                <a:srgbClr val="3F3F3F"/>
              </a:buClr>
              <a:buSzPts val="4800"/>
            </a:pPr>
            <a:r>
              <a:rPr lang="ru-RU" b="1" dirty="0">
                <a:effectLst>
                  <a:outerShdw blurRad="38100" dist="38100" dir="2700000" algn="tl">
                    <a:srgbClr val="000000">
                      <a:alpha val="43137"/>
                    </a:srgbClr>
                  </a:outerShdw>
                </a:effectLst>
              </a:rPr>
              <a:t>Причины переобучения</a:t>
            </a:r>
          </a:p>
        </p:txBody>
      </p:sp>
      <p:sp>
        <p:nvSpPr>
          <p:cNvPr id="3" name="Объект 2"/>
          <p:cNvSpPr>
            <a:spLocks noGrp="1"/>
          </p:cNvSpPr>
          <p:nvPr>
            <p:ph idx="1"/>
          </p:nvPr>
        </p:nvSpPr>
        <p:spPr/>
        <p:txBody>
          <a:bodyPr>
            <a:normAutofit/>
          </a:bodyPr>
          <a:lstStyle/>
          <a:p>
            <a:pPr marL="0" indent="0" algn="just">
              <a:buNone/>
            </a:pPr>
            <a:r>
              <a:rPr lang="ru-RU" sz="3200" dirty="0"/>
              <a:t>1. Модель </a:t>
            </a:r>
            <a:r>
              <a:rPr lang="ru-RU" sz="3200" b="1" dirty="0"/>
              <a:t>слишком сложна </a:t>
            </a:r>
            <a:r>
              <a:rPr lang="ru-RU" sz="3200" dirty="0"/>
              <a:t>для данных (например, очень глубокие </a:t>
            </a:r>
            <a:r>
              <a:rPr lang="ru-RU" sz="3200" dirty="0" err="1"/>
              <a:t>нейросети</a:t>
            </a:r>
            <a:r>
              <a:rPr lang="ru-RU" sz="3200" dirty="0"/>
              <a:t> часто могут быть переобученными);</a:t>
            </a:r>
          </a:p>
          <a:p>
            <a:pPr marL="0" indent="0" algn="just">
              <a:buNone/>
            </a:pPr>
            <a:r>
              <a:rPr lang="ru-RU" sz="3200" dirty="0"/>
              <a:t>2. Слишком </a:t>
            </a:r>
            <a:r>
              <a:rPr lang="ru-RU" sz="3200" b="1" dirty="0"/>
              <a:t>много</a:t>
            </a:r>
            <a:r>
              <a:rPr lang="ru-RU" sz="3200" dirty="0"/>
              <a:t> </a:t>
            </a:r>
            <a:r>
              <a:rPr lang="ru-RU" sz="3200" b="1" dirty="0"/>
              <a:t>признаков</a:t>
            </a:r>
            <a:r>
              <a:rPr lang="ru-RU" sz="3200" dirty="0"/>
              <a:t> и слишком </a:t>
            </a:r>
            <a:r>
              <a:rPr lang="ru-RU" sz="3200" b="1" dirty="0"/>
              <a:t>мало</a:t>
            </a:r>
            <a:r>
              <a:rPr lang="ru-RU" sz="3200" dirty="0"/>
              <a:t> </a:t>
            </a:r>
            <a:r>
              <a:rPr lang="ru-RU" sz="3200" b="1" dirty="0"/>
              <a:t>обучающих</a:t>
            </a:r>
            <a:r>
              <a:rPr lang="ru-RU" sz="3200" dirty="0"/>
              <a:t> примеров;</a:t>
            </a:r>
          </a:p>
          <a:p>
            <a:pPr marL="0" indent="0" algn="just">
              <a:buNone/>
            </a:pPr>
            <a:r>
              <a:rPr lang="ru-RU" sz="3200" dirty="0"/>
              <a:t>3. Модель недостаточно </a:t>
            </a:r>
            <a:r>
              <a:rPr lang="ru-RU" sz="3200" b="1" dirty="0"/>
              <a:t>регуляризирована</a:t>
            </a:r>
            <a:r>
              <a:rPr lang="ru-RU" sz="3200" dirty="0"/>
              <a:t>.</a:t>
            </a:r>
          </a:p>
        </p:txBody>
      </p:sp>
    </p:spTree>
    <p:extLst>
      <p:ext uri="{BB962C8B-B14F-4D97-AF65-F5344CB8AC3E}">
        <p14:creationId xmlns:p14="http://schemas.microsoft.com/office/powerpoint/2010/main" val="20144959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buClr>
                <a:srgbClr val="3F3F3F"/>
              </a:buClr>
              <a:buSzPts val="4800"/>
            </a:pPr>
            <a:r>
              <a:rPr lang="ru-RU" b="1" dirty="0">
                <a:effectLst>
                  <a:outerShdw blurRad="38100" dist="38100" dir="2700000" algn="tl">
                    <a:srgbClr val="000000">
                      <a:alpha val="43137"/>
                    </a:srgbClr>
                  </a:outerShdw>
                </a:effectLst>
              </a:rPr>
              <a:t>Решения проблемы переобучения</a:t>
            </a:r>
          </a:p>
        </p:txBody>
      </p:sp>
      <p:sp>
        <p:nvSpPr>
          <p:cNvPr id="3" name="Объект 2"/>
          <p:cNvSpPr>
            <a:spLocks noGrp="1"/>
          </p:cNvSpPr>
          <p:nvPr>
            <p:ph idx="1"/>
          </p:nvPr>
        </p:nvSpPr>
        <p:spPr/>
        <p:txBody>
          <a:bodyPr>
            <a:normAutofit/>
          </a:bodyPr>
          <a:lstStyle/>
          <a:p>
            <a:pPr marL="0" indent="0">
              <a:buNone/>
            </a:pPr>
            <a:r>
              <a:rPr lang="ru-RU" sz="3200" dirty="0"/>
              <a:t>1. Использовать более </a:t>
            </a:r>
            <a:r>
              <a:rPr lang="ru-RU" sz="3200" b="1" dirty="0"/>
              <a:t>простую</a:t>
            </a:r>
            <a:r>
              <a:rPr lang="ru-RU" sz="3200" dirty="0"/>
              <a:t> модель;</a:t>
            </a:r>
          </a:p>
          <a:p>
            <a:pPr marL="0" indent="0">
              <a:buNone/>
            </a:pPr>
            <a:r>
              <a:rPr lang="ru-RU" sz="3200" dirty="0"/>
              <a:t>2. </a:t>
            </a:r>
            <a:r>
              <a:rPr lang="ru-RU" sz="3200" b="1" dirty="0"/>
              <a:t>Уменьшить</a:t>
            </a:r>
            <a:r>
              <a:rPr lang="ru-RU" sz="3200" dirty="0"/>
              <a:t> </a:t>
            </a:r>
            <a:r>
              <a:rPr lang="ru-RU" sz="3200" b="1" dirty="0"/>
              <a:t>размерность</a:t>
            </a:r>
            <a:r>
              <a:rPr lang="ru-RU" sz="3200" dirty="0"/>
              <a:t> примеров в наборе данных;</a:t>
            </a:r>
          </a:p>
          <a:p>
            <a:pPr marL="0" indent="0">
              <a:buNone/>
            </a:pPr>
            <a:r>
              <a:rPr lang="ru-RU" sz="3200" dirty="0"/>
              <a:t>3. Если возможно, добавить </a:t>
            </a:r>
            <a:r>
              <a:rPr lang="ru-RU" sz="3200" b="1" dirty="0"/>
              <a:t>обучающие</a:t>
            </a:r>
            <a:r>
              <a:rPr lang="ru-RU" sz="3200" dirty="0"/>
              <a:t> данные;</a:t>
            </a:r>
          </a:p>
          <a:p>
            <a:pPr marL="0" indent="0">
              <a:buNone/>
            </a:pPr>
            <a:r>
              <a:rPr lang="ru-RU" sz="3200" dirty="0"/>
              <a:t>4. </a:t>
            </a:r>
            <a:r>
              <a:rPr lang="ru-RU" sz="3200" b="1" dirty="0"/>
              <a:t>Регуляризировать</a:t>
            </a:r>
            <a:r>
              <a:rPr lang="ru-RU" sz="3200" dirty="0"/>
              <a:t> модель.</a:t>
            </a:r>
          </a:p>
        </p:txBody>
      </p:sp>
    </p:spTree>
    <p:extLst>
      <p:ext uri="{BB962C8B-B14F-4D97-AF65-F5344CB8AC3E}">
        <p14:creationId xmlns:p14="http://schemas.microsoft.com/office/powerpoint/2010/main" val="35230240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buClr>
                <a:srgbClr val="3F3F3F"/>
              </a:buClr>
              <a:buSzPts val="4800"/>
            </a:pPr>
            <a:r>
              <a:rPr lang="ru-RU" b="1" dirty="0">
                <a:effectLst>
                  <a:outerShdw blurRad="38100" dist="38100" dir="2700000" algn="tl">
                    <a:srgbClr val="000000">
                      <a:alpha val="43137"/>
                    </a:srgbClr>
                  </a:outerShdw>
                </a:effectLst>
              </a:rPr>
              <a:t>Компромисс (</a:t>
            </a:r>
            <a:r>
              <a:rPr lang="en-US" b="1" dirty="0">
                <a:effectLst>
                  <a:outerShdw blurRad="38100" dist="38100" dir="2700000" algn="tl">
                    <a:srgbClr val="000000">
                      <a:alpha val="43137"/>
                    </a:srgbClr>
                  </a:outerShdw>
                </a:effectLst>
              </a:rPr>
              <a:t>bias-variance tradeoff</a:t>
            </a:r>
            <a:r>
              <a:rPr lang="ru-RU" b="1" dirty="0">
                <a:effectLst>
                  <a:outerShdw blurRad="38100" dist="38100" dir="2700000" algn="tl">
                    <a:srgbClr val="000000">
                      <a:alpha val="43137"/>
                    </a:srgbClr>
                  </a:outerShdw>
                </a:effectLst>
              </a:rPr>
              <a:t>)</a:t>
            </a:r>
          </a:p>
        </p:txBody>
      </p:sp>
      <p:sp>
        <p:nvSpPr>
          <p:cNvPr id="3" name="Объект 2"/>
          <p:cNvSpPr>
            <a:spLocks noGrp="1"/>
          </p:cNvSpPr>
          <p:nvPr>
            <p:ph idx="1"/>
          </p:nvPr>
        </p:nvSpPr>
        <p:spPr>
          <a:xfrm>
            <a:off x="751291" y="1427018"/>
            <a:ext cx="4644493" cy="5167746"/>
          </a:xfrm>
        </p:spPr>
        <p:txBody>
          <a:bodyPr>
            <a:normAutofit fontScale="85000" lnSpcReduction="20000"/>
          </a:bodyPr>
          <a:lstStyle/>
          <a:p>
            <a:pPr algn="just"/>
            <a:r>
              <a:rPr lang="ru-RU" dirty="0"/>
              <a:t>На практике попытка уменьшить дисперсию приводит к увеличению смещения, и наоборот. Т.е. снижение </a:t>
            </a:r>
            <a:r>
              <a:rPr lang="ru-RU" dirty="0" err="1"/>
              <a:t>переобученности</a:t>
            </a:r>
            <a:r>
              <a:rPr lang="ru-RU" dirty="0"/>
              <a:t> ведет к </a:t>
            </a:r>
            <a:r>
              <a:rPr lang="ru-RU" dirty="0" err="1"/>
              <a:t>недообученности</a:t>
            </a:r>
            <a:r>
              <a:rPr lang="ru-RU" dirty="0"/>
              <a:t>, и наоборот.</a:t>
            </a:r>
          </a:p>
          <a:p>
            <a:pPr algn="just"/>
            <a:r>
              <a:rPr lang="ru-RU" dirty="0"/>
              <a:t>Есть много факторов, от которых зависит хорошее поведение модели на обучающих данных, но самый важный из них – </a:t>
            </a:r>
            <a:r>
              <a:rPr lang="ru-RU" b="1" dirty="0"/>
              <a:t>сложность</a:t>
            </a:r>
            <a:r>
              <a:rPr lang="ru-RU" dirty="0"/>
              <a:t> модели.</a:t>
            </a:r>
          </a:p>
          <a:p>
            <a:pPr algn="just"/>
            <a:r>
              <a:rPr lang="ru-RU" dirty="0"/>
              <a:t>Модель, опирающаяся на запоминание, не сможет правильно предсказывать метки данных, которых ранее не видела. Поэтому ее дисперсия будет велика.</a:t>
            </a:r>
          </a:p>
          <a:p>
            <a:endParaRPr lang="ru-RU" dirty="0"/>
          </a:p>
        </p:txBody>
      </p:sp>
      <p:pic>
        <p:nvPicPr>
          <p:cNvPr id="5" name="Рисунок 4"/>
          <p:cNvPicPr>
            <a:picLocks noChangeAspect="1"/>
          </p:cNvPicPr>
          <p:nvPr/>
        </p:nvPicPr>
        <p:blipFill>
          <a:blip r:embed="rId2"/>
          <a:stretch>
            <a:fillRect/>
          </a:stretch>
        </p:blipFill>
        <p:spPr>
          <a:xfrm>
            <a:off x="5645673" y="1645194"/>
            <a:ext cx="6249766" cy="4690150"/>
          </a:xfrm>
          <a:prstGeom prst="rect">
            <a:avLst/>
          </a:prstGeom>
        </p:spPr>
      </p:pic>
    </p:spTree>
    <p:extLst>
      <p:ext uri="{BB962C8B-B14F-4D97-AF65-F5344CB8AC3E}">
        <p14:creationId xmlns:p14="http://schemas.microsoft.com/office/powerpoint/2010/main" val="3980208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buClr>
                <a:srgbClr val="3F3F3F"/>
              </a:buClr>
              <a:buSzPts val="4800"/>
            </a:pPr>
            <a:r>
              <a:rPr lang="ru-RU" b="1" dirty="0">
                <a:effectLst>
                  <a:outerShdw blurRad="38100" dist="38100" dir="2700000" algn="tl">
                    <a:srgbClr val="000000">
                      <a:alpha val="43137"/>
                    </a:srgbClr>
                  </a:outerShdw>
                </a:effectLst>
              </a:rPr>
              <a:t>Понятие регуляризации</a:t>
            </a:r>
          </a:p>
        </p:txBody>
      </p:sp>
      <p:sp>
        <p:nvSpPr>
          <p:cNvPr id="3" name="Объект 2"/>
          <p:cNvSpPr>
            <a:spLocks noGrp="1"/>
          </p:cNvSpPr>
          <p:nvPr>
            <p:ph idx="1"/>
          </p:nvPr>
        </p:nvSpPr>
        <p:spPr/>
        <p:txBody>
          <a:bodyPr>
            <a:normAutofit/>
          </a:bodyPr>
          <a:lstStyle/>
          <a:p>
            <a:pPr algn="just"/>
            <a:r>
              <a:rPr lang="ru-RU" sz="2400" dirty="0"/>
              <a:t>Регуляризация – общий термин, обозначающий методы, которые вынуждают алгоритм обучить </a:t>
            </a:r>
            <a:r>
              <a:rPr lang="ru-RU" sz="2400" b="1" dirty="0"/>
              <a:t>менее сложную </a:t>
            </a:r>
            <a:r>
              <a:rPr lang="ru-RU" sz="2400" dirty="0"/>
              <a:t>модель.</a:t>
            </a:r>
          </a:p>
          <a:p>
            <a:pPr algn="just"/>
            <a:r>
              <a:rPr lang="ru-RU" sz="2400" dirty="0" err="1"/>
              <a:t>Т.о</a:t>
            </a:r>
            <a:r>
              <a:rPr lang="ru-RU" sz="2400" dirty="0"/>
              <a:t>. модель может быть сложной, но за счет регуляризации она «упрощается» и делает больше ошибок.</a:t>
            </a:r>
          </a:p>
          <a:p>
            <a:pPr marL="0" indent="0" algn="just">
              <a:buNone/>
            </a:pPr>
            <a:r>
              <a:rPr lang="ru-RU" sz="2400" dirty="0"/>
              <a:t>Чаще всего применяется </a:t>
            </a:r>
            <a:r>
              <a:rPr lang="ru-RU" sz="2400" b="1" dirty="0"/>
              <a:t>L1-</a:t>
            </a:r>
            <a:r>
              <a:rPr lang="ru-RU" sz="2400" dirty="0"/>
              <a:t> или </a:t>
            </a:r>
            <a:r>
              <a:rPr lang="ru-RU" sz="2400" b="1" dirty="0"/>
              <a:t>L2-регуляризация</a:t>
            </a:r>
            <a:r>
              <a:rPr lang="ru-RU" sz="2400" dirty="0"/>
              <a:t>.</a:t>
            </a:r>
          </a:p>
          <a:p>
            <a:pPr marL="0" indent="0" algn="just">
              <a:buNone/>
            </a:pPr>
            <a:r>
              <a:rPr lang="ru-RU" sz="2400" dirty="0"/>
              <a:t>Чтобы создать регуляризированную модель, мы </a:t>
            </a:r>
            <a:r>
              <a:rPr lang="ru-RU" sz="2400" b="1" dirty="0"/>
              <a:t>модифицируем целевую функцию</a:t>
            </a:r>
            <a:r>
              <a:rPr lang="ru-RU" sz="2400" dirty="0"/>
              <a:t> – то выражение, которое оптимизируется алгоритмом обучения модели.</a:t>
            </a:r>
          </a:p>
          <a:p>
            <a:pPr marL="0" indent="0" algn="just">
              <a:buNone/>
            </a:pPr>
            <a:r>
              <a:rPr lang="ru-RU" sz="2400" b="1" dirty="0"/>
              <a:t>Регуляризация добавляет штраф к целевой функции.</a:t>
            </a:r>
          </a:p>
        </p:txBody>
      </p:sp>
    </p:spTree>
    <p:extLst>
      <p:ext uri="{BB962C8B-B14F-4D97-AF65-F5344CB8AC3E}">
        <p14:creationId xmlns:p14="http://schemas.microsoft.com/office/powerpoint/2010/main" val="12987357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Классификация</a:t>
            </a:r>
          </a:p>
        </p:txBody>
      </p:sp>
      <p:pic>
        <p:nvPicPr>
          <p:cNvPr id="4" name="Google Shape;234;p17"/>
          <p:cNvPicPr preferRelativeResize="0"/>
          <p:nvPr/>
        </p:nvPicPr>
        <p:blipFill rotWithShape="1">
          <a:blip r:embed="rId2">
            <a:alphaModFix/>
          </a:blip>
          <a:srcRect/>
          <a:stretch/>
        </p:blipFill>
        <p:spPr>
          <a:xfrm>
            <a:off x="1213053" y="2202873"/>
            <a:ext cx="9765894" cy="3660888"/>
          </a:xfrm>
          <a:prstGeom prst="rect">
            <a:avLst/>
          </a:prstGeom>
          <a:noFill/>
          <a:ln>
            <a:noFill/>
          </a:ln>
        </p:spPr>
      </p:pic>
    </p:spTree>
    <p:extLst>
      <p:ext uri="{BB962C8B-B14F-4D97-AF65-F5344CB8AC3E}">
        <p14:creationId xmlns:p14="http://schemas.microsoft.com/office/powerpoint/2010/main" val="25830796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effectLst>
                  <a:outerShdw blurRad="38100" dist="38100" dir="2700000" algn="tl">
                    <a:srgbClr val="000000">
                      <a:alpha val="43137"/>
                    </a:srgbClr>
                  </a:outerShdw>
                </a:effectLst>
              </a:rPr>
              <a:t>Регрессия</a:t>
            </a:r>
          </a:p>
        </p:txBody>
      </p:sp>
      <p:pic>
        <p:nvPicPr>
          <p:cNvPr id="4" name="Google Shape;241;p18"/>
          <p:cNvPicPr preferRelativeResize="0"/>
          <p:nvPr/>
        </p:nvPicPr>
        <p:blipFill rotWithShape="1">
          <a:blip r:embed="rId2">
            <a:alphaModFix/>
          </a:blip>
          <a:srcRect/>
          <a:stretch/>
        </p:blipFill>
        <p:spPr>
          <a:xfrm>
            <a:off x="709612" y="2404533"/>
            <a:ext cx="10772775" cy="3403556"/>
          </a:xfrm>
          <a:prstGeom prst="rect">
            <a:avLst/>
          </a:prstGeom>
          <a:noFill/>
          <a:ln>
            <a:noFill/>
          </a:ln>
        </p:spPr>
      </p:pic>
    </p:spTree>
    <p:extLst>
      <p:ext uri="{BB962C8B-B14F-4D97-AF65-F5344CB8AC3E}">
        <p14:creationId xmlns:p14="http://schemas.microsoft.com/office/powerpoint/2010/main" val="352630116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TotalTime>
  <Words>2125</Words>
  <Application>Microsoft Macintosh PowerPoint</Application>
  <PresentationFormat>Широкоэкранный</PresentationFormat>
  <Paragraphs>183</Paragraphs>
  <Slides>43</Slides>
  <Notes>13</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43</vt:i4>
      </vt:variant>
    </vt:vector>
  </HeadingPairs>
  <TitlesOfParts>
    <vt:vector size="49" baseType="lpstr">
      <vt:lpstr>Arial</vt:lpstr>
      <vt:lpstr>Calibri</vt:lpstr>
      <vt:lpstr>Calibri Light</vt:lpstr>
      <vt:lpstr>Cambria Math</vt:lpstr>
      <vt:lpstr>HeliosExtC</vt:lpstr>
      <vt:lpstr>Тема Office</vt:lpstr>
      <vt:lpstr>Data Science: машинное обучение и нейронные сети</vt:lpstr>
      <vt:lpstr>План занятия</vt:lpstr>
      <vt:lpstr>Что такое машинное обучение?</vt:lpstr>
      <vt:lpstr>Базовые определения (1)</vt:lpstr>
      <vt:lpstr>Базовые определения (2)</vt:lpstr>
      <vt:lpstr>Базовые определения (3)</vt:lpstr>
      <vt:lpstr>Минимизация функции потерь</vt:lpstr>
      <vt:lpstr>Процесс обучения модели МО</vt:lpstr>
      <vt:lpstr>Разбиение исходной выборки</vt:lpstr>
      <vt:lpstr>Основные задачи машинного обучения</vt:lpstr>
      <vt:lpstr>Задача регрессии</vt:lpstr>
      <vt:lpstr>Основные виды регрессии</vt:lpstr>
      <vt:lpstr>Пример задачи регрессии</vt:lpstr>
      <vt:lpstr>Другие примеры регрессии</vt:lpstr>
      <vt:lpstr>Задача классификации</vt:lpstr>
      <vt:lpstr>Бинарная классификация</vt:lpstr>
      <vt:lpstr>Пример задачи мультиклассовой классификации</vt:lpstr>
      <vt:lpstr>Пример задачи  мультиклассовой классификации</vt:lpstr>
      <vt:lpstr>Кластеризация</vt:lpstr>
      <vt:lpstr>Ассоциация</vt:lpstr>
      <vt:lpstr>Снижение размерности</vt:lpstr>
      <vt:lpstr>Типы машинного обучения</vt:lpstr>
      <vt:lpstr>Контролируемое обучение</vt:lpstr>
      <vt:lpstr>Приложения контролируемого обучения</vt:lpstr>
      <vt:lpstr>Неконтролируемое обучение</vt:lpstr>
      <vt:lpstr>Приложения неконтролируемого обучения</vt:lpstr>
      <vt:lpstr>Обучение с подкреплением</vt:lpstr>
      <vt:lpstr>Общий принцип ОП</vt:lpstr>
      <vt:lpstr>Общий принцип ОП</vt:lpstr>
      <vt:lpstr>Приложения обучения с подкреплением</vt:lpstr>
      <vt:lpstr>Иллюстрация типов МО </vt:lpstr>
      <vt:lpstr>Две проблемы обучения моделей –  bias-variance tradeoff</vt:lpstr>
      <vt:lpstr>Смещение и дисперсия</vt:lpstr>
      <vt:lpstr>Проблема недообучения</vt:lpstr>
      <vt:lpstr>Причины недообучения</vt:lpstr>
      <vt:lpstr>Решения проблемы недообучения</vt:lpstr>
      <vt:lpstr>Проблема переобучения</vt:lpstr>
      <vt:lpstr>Причины переобучения</vt:lpstr>
      <vt:lpstr>Решения проблемы переобучения</vt:lpstr>
      <vt:lpstr>Компромисс (bias-variance tradeoff)</vt:lpstr>
      <vt:lpstr>Понятие регуляризации</vt:lpstr>
      <vt:lpstr>Классификация</vt:lpstr>
      <vt:lpstr>Регрессия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машинное обучение и нейронные сети</dc:title>
  <dc:creator>Александр Крощенко</dc:creator>
  <cp:lastModifiedBy>Александр Крощенко</cp:lastModifiedBy>
  <cp:revision>46</cp:revision>
  <dcterms:created xsi:type="dcterms:W3CDTF">2025-11-07T18:31:13Z</dcterms:created>
  <dcterms:modified xsi:type="dcterms:W3CDTF">2026-01-10T19:19:01Z</dcterms:modified>
</cp:coreProperties>
</file>